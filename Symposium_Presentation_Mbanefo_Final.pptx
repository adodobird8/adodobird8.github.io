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948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45"/>
    <p:restoredTop sz="71007"/>
  </p:normalViewPr>
  <p:slideViewPr>
    <p:cSldViewPr snapToGrid="0" snapToObjects="1">
      <p:cViewPr varScale="1">
        <p:scale>
          <a:sx n="90" d="100"/>
          <a:sy n="90" d="100"/>
        </p:scale>
        <p:origin x="83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881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afternoon everyone, and thank you for being here. My name is Adaora Mbanefo, and I work in the Learning and Language Lab. Today I'll be talking about how caregiver questions shape the speech that young children produce, specifically across different naturalistic language learning environments like free play, snack time, and picture book reading.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why do we care about caregiver questions? For decades, researchers have argued that questions are a key mechanism for getting children to talk. This idea has shaped real interventions. Many programs, like dialogic reading, actively train parents to ask questions while reading picture books with their children.</a:t>
            </a:r>
            <a:br>
              <a:rPr dirty="0"/>
            </a:br>
            <a:br>
              <a:rPr dirty="0"/>
            </a:br>
            <a:r>
              <a:rPr dirty="0"/>
              <a:t>But here's the thing: there is minimal evidence that these questions reliably produce more complex child speech. In fact, recent work by Noble and colleagues in 2020 suggests that simply engaging with books in a natural, active way may be just as effective as formal question-asking strategies. So that raises an important question for us: what is it about these interactions that drives child language production?</a:t>
            </a:r>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lab has been studying this. In prior work, we looked at turn-taking across different activities. Using the Bates 1988 lab corpus, which includes free play and snack time, and the StoopsMontag 2024 home corpus, which includes 20 hours of book reading, we found that turn-taking counts during book reading were not higher than in other activities. This was surprising, because a lot of people assume that books generate the most back-and-forth conversation.</a:t>
            </a:r>
            <a:br>
              <a:rPr dirty="0"/>
            </a:br>
            <a:br>
              <a:rPr dirty="0"/>
            </a:br>
            <a:r>
              <a:rPr dirty="0"/>
              <a:t>So that shifted our thinking. If it's not the sheer quantity of turns, maybe it's the quality of the exchanges that matters. And that's where this study comes in. We wanted to move beyond counting turns and look at what kinds of questions caregivers are asking, and whether certain question types, specifically </a:t>
            </a:r>
            <a:r>
              <a:rPr dirty="0" err="1"/>
              <a:t>wh</a:t>
            </a:r>
            <a:r>
              <a:rPr dirty="0"/>
              <a:t>-questions, pull longer, more complex responses from children.</a:t>
            </a:r>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our central research question is: do </a:t>
            </a:r>
            <a:r>
              <a:rPr dirty="0" err="1"/>
              <a:t>wh</a:t>
            </a:r>
            <a:r>
              <a:rPr dirty="0"/>
              <a:t>-questions, things like "what's that?", "where did it go?", "why is she sad?", elicit more complex speech from children compared to other question types? And we wanted to test this across different naturalistic contexts, not just book reading.</a:t>
            </a:r>
            <a:br>
              <a:rPr dirty="0"/>
            </a:br>
            <a:br>
              <a:rPr dirty="0"/>
            </a:br>
            <a:r>
              <a:rPr dirty="0"/>
              <a:t>It makes sense that open-ended questions are what allow children to produce more complex speech, and those are precisely what </a:t>
            </a:r>
            <a:r>
              <a:rPr dirty="0" err="1"/>
              <a:t>wh</a:t>
            </a:r>
            <a:r>
              <a:rPr dirty="0"/>
              <a:t>-questions are.</a:t>
            </a:r>
            <a:endParaRPr lang="en-US" dirty="0"/>
          </a:p>
          <a:p>
            <a:endParaRPr lang="en-GB" dirty="0"/>
          </a:p>
          <a:p>
            <a:endParaRPr lang="en-GB" dirty="0"/>
          </a:p>
          <a:p>
            <a:r>
              <a:rPr lang="en-GB" dirty="0"/>
              <a:t>Note: </a:t>
            </a:r>
            <a:r>
              <a:rPr lang="en-GB" sz="1200" b="0" i="0" u="none" strike="noStrike" kern="1200" dirty="0">
                <a:solidFill>
                  <a:schemeClr val="tx1"/>
                </a:solidFill>
                <a:effectLst/>
                <a:latin typeface="+mn-lt"/>
                <a:ea typeface="+mn-ea"/>
                <a:cs typeface="+mn-cs"/>
              </a:rPr>
              <a:t>Opened ended discussion: The more precise framing is that </a:t>
            </a:r>
            <a:r>
              <a:rPr lang="en-GB" sz="1200" b="0" i="0" u="none" strike="noStrike" kern="1200" dirty="0" err="1">
                <a:solidFill>
                  <a:schemeClr val="tx1"/>
                </a:solidFill>
                <a:effectLst/>
                <a:latin typeface="+mn-lt"/>
                <a:ea typeface="+mn-ea"/>
                <a:cs typeface="+mn-cs"/>
              </a:rPr>
              <a:t>wh</a:t>
            </a:r>
            <a:r>
              <a:rPr lang="en-GB" sz="1200" b="0" i="0" u="none" strike="noStrike" kern="1200" dirty="0">
                <a:solidFill>
                  <a:schemeClr val="tx1"/>
                </a:solidFill>
                <a:effectLst/>
                <a:latin typeface="+mn-lt"/>
                <a:ea typeface="+mn-ea"/>
                <a:cs typeface="+mn-cs"/>
              </a:rPr>
              <a:t>-questions are content-demanding — they require the child to retrieve and produce a specific piece of information, whereas yes/no questions can be answered with a nod, "yeah," or "uh huh" without generating any new content. Tag and interjection questions are similar — they don't demand the child contribute anything substantive.</a:t>
            </a:r>
            <a:endParaRPr lang="en-GB" dirty="0"/>
          </a:p>
          <a:p>
            <a:endParaRPr lang="en-GB" dirty="0"/>
          </a:p>
          <a:p>
            <a:endParaRPr lang="en-GB"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 answer this, we used the Bates 1988 corpus, which is available through the CHILDES repository. This corpus</a:t>
            </a:r>
            <a:r>
              <a:rPr lang="en-US" dirty="0"/>
              <a:t> includes 28 children but we selected a 12 </a:t>
            </a:r>
            <a:r>
              <a:rPr lang="en-GB" sz="1200" b="0" i="0" u="none" strike="noStrike" kern="1200">
                <a:solidFill>
                  <a:schemeClr val="tx1"/>
                </a:solidFill>
                <a:effectLst/>
                <a:latin typeface="+mn-lt"/>
                <a:ea typeface="+mn-ea"/>
                <a:cs typeface="+mn-cs"/>
              </a:rPr>
              <a:t> caregiver-toddler dyads</a:t>
            </a:r>
            <a:r>
              <a:rPr lang="en-US"/>
              <a:t> </a:t>
            </a:r>
            <a:r>
              <a:rPr lang="en-US" dirty="0"/>
              <a:t>filtered for gender and age. </a:t>
            </a:r>
            <a:r>
              <a:rPr dirty="0"/>
              <a:t>The children were all 28 months old, and they were recorded in a lab setting across three different activities: free play with toys, snack time, and picture book reading.</a:t>
            </a:r>
            <a:br>
              <a:rPr dirty="0"/>
            </a:br>
            <a:br>
              <a:rPr dirty="0"/>
            </a:br>
            <a:r>
              <a:rPr dirty="0"/>
              <a:t>Across these sessions, we identified 1,832 total questions. We also compared these patterns to our home-based corpus from Stoops et al. to see if the lab findings </a:t>
            </a:r>
            <a:r>
              <a:rPr dirty="0" err="1"/>
              <a:t>generali</a:t>
            </a:r>
            <a:r>
              <a:rPr lang="en-US" dirty="0" err="1"/>
              <a:t>s</a:t>
            </a:r>
            <a:r>
              <a:rPr dirty="0" err="1"/>
              <a:t>e</a:t>
            </a:r>
            <a:r>
              <a:rPr dirty="0"/>
              <a:t> to naturalistic settings.</a:t>
            </a:r>
          </a:p>
          <a:p>
            <a:endParaRPr dirty="0"/>
          </a:p>
          <a:p>
            <a:endParaRPr lang="en-US" dirty="0"/>
          </a:p>
          <a:p>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coded every question by type. WH questions are things like "what's that?" or "where did it go?". They're open-ended and demand a substantive response. Yes/No questions like "do you want more?" can be answered with just a yes or no. Choice, Tag, and Interjection questions are even more constrained.</a:t>
            </a:r>
            <a:br>
              <a:rPr dirty="0"/>
            </a:br>
            <a:br>
              <a:rPr dirty="0"/>
            </a:br>
            <a:r>
              <a:rPr dirty="0"/>
              <a:t>For the sake of time, I'll focus on WH questions because they're the only type that truly requires an open-ended response from the child. All the other types, yes/no, choice, tag, interjection, can be answered with a single word or even just "uh huh." WH questions are the ones that push children to produce language.</a:t>
            </a:r>
          </a:p>
          <a:p>
            <a:endParaRPr dirty="0"/>
          </a:p>
          <a:p>
            <a:endParaRPr dirty="0"/>
          </a:p>
          <a:p>
            <a:endParaRPr lang="en-US" dirty="0"/>
          </a:p>
          <a:p>
            <a:endParaRPr lang="en-US" dirty="0"/>
          </a:p>
          <a:p>
            <a:endParaRPr lang="en-US" dirty="0"/>
          </a:p>
          <a:p>
            <a:endParaRPr lang="en-US" dirty="0"/>
          </a:p>
          <a:p>
            <a:endParaRPr lang="en-GB"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I get into results, I want to show you what this data actually looks like. This is a transcript from one of the book reading sessions in the Bates corpus. You can see the mother, </a:t>
            </a:r>
            <a:r>
              <a:rPr lang="en-US" dirty="0"/>
              <a:t>labelled</a:t>
            </a:r>
            <a:r>
              <a:rPr dirty="0"/>
              <a:t> MOT, asking questions like "what's that?" and "do you remember the rabbit's name?" And then the child, CHI, responding with short answers like "eyes" or "snow." This is the raw material we're working with. Each question-answer pair is extracted and coded.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our analysis pipeline. We start with raw CHILDES transcripts in .cha format. We wrote Python scripts to clean the data, extract every question-answer pair, code each question by type, and compute response lengths. The output is a structured CSV that we then use for analysis and vis</a:t>
            </a:r>
            <a:r>
              <a:rPr lang="en-GB" noProof="1"/>
              <a:t>ualisation</a:t>
            </a:r>
            <a:r>
              <a:rPr dirty="0"/>
              <a:t>. This code is reusable and could be applied to other corpora.</a:t>
            </a:r>
            <a:br>
              <a:rPr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the first thing we looked at was the distribution of question types across activities. And this graph tells a really clear story. Look at the Story column on the right. You can see that massive teal bar, that's </a:t>
            </a:r>
            <a:r>
              <a:rPr dirty="0" err="1"/>
              <a:t>wh</a:t>
            </a:r>
            <a:r>
              <a:rPr dirty="0"/>
              <a:t>-questions. In book reading, caregivers produced 448 </a:t>
            </a:r>
            <a:r>
              <a:rPr dirty="0" err="1"/>
              <a:t>wh</a:t>
            </a:r>
            <a:r>
              <a:rPr dirty="0"/>
              <a:t>-questions out of 758 total across all activities. That's 59 percent. Compare that to free play and snack, where yes/no questions, the orange bars, dominate.</a:t>
            </a:r>
            <a:br>
              <a:rPr dirty="0"/>
            </a:br>
            <a:br>
              <a:rPr dirty="0"/>
            </a:br>
            <a:r>
              <a:rPr dirty="0"/>
              <a:t>So book reading isn't just generating more questions overall. It's generating a fundamentally different type of question. Despite the fact that conversational turns are not the highest during book reading, the book is a really great source for specifically open-ended questions.</a:t>
            </a:r>
            <a:br>
              <a:rPr dirty="0"/>
            </a:br>
            <a:br>
              <a:rPr dirty="0"/>
            </a:br>
            <a:r>
              <a:rPr dirty="0"/>
              <a:t>In terms of children asking questions, they ask more during free play, which makes sense. Two-year-olds are curious and talk more freely there. Parents also adjust their speech based on context, which is what the smart adult does. During snack, you see more yes/no questions like "you want this?" which makes sense. But in terms of book reading, books are the most conducive to open-ended questions.</a:t>
            </a:r>
            <a:br>
              <a:rPr dirty="0"/>
            </a:br>
            <a:br>
              <a:rPr dirty="0"/>
            </a:br>
            <a:r>
              <a:rPr dirty="0"/>
              <a:t>But remember, our research question is not about how many questions children ask, but about what happens when they respond to caregiver questions. So now let's look at that.</a:t>
            </a:r>
          </a:p>
          <a:p>
            <a:endParaRPr dirty="0"/>
          </a:p>
          <a:p>
            <a:endParaRPr dirty="0"/>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let's look at children's speech. On the Y axis, I'm plotting mean answer length in words. On the X axis, we have children's responses to caregiver WH questions in orange, and their overall session MLU in blue.</a:t>
            </a:r>
            <a:br>
              <a:rPr dirty="0"/>
            </a:br>
            <a:br>
              <a:rPr dirty="0"/>
            </a:br>
            <a:r>
              <a:rPr dirty="0"/>
              <a:t>The key thing to notice: in each activity, free play, book reading, and snack, the orange WH responses tend to sit higher than the blue overall. The WH questions consistently pull longer responses from children.</a:t>
            </a:r>
            <a:br>
              <a:rPr dirty="0"/>
            </a:br>
            <a:br>
              <a:rPr dirty="0"/>
            </a:br>
            <a:r>
              <a:rPr dirty="0"/>
              <a:t>If you look at the box plots, you can see the quartiles, and that center line shows the median. The black dots show the mean with standard error bars. In general, the WH response distributions are shifted upward compared to overall responses. This pattern is remarkably consistent across all three contexts.</a:t>
            </a:r>
          </a:p>
          <a:p>
            <a:endParaRPr dirty="0"/>
          </a:p>
          <a:p>
            <a:endParaRPr dirty="0"/>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key finding collapsed across all activities. On the left, in orange, you're looking at children's response length specifically to caregiver </a:t>
            </a:r>
            <a:r>
              <a:rPr dirty="0" err="1"/>
              <a:t>wh</a:t>
            </a:r>
            <a:r>
              <a:rPr dirty="0"/>
              <a:t>-questions. On the right, in blue, is their overall response length across all interactions in the session. Each </a:t>
            </a:r>
            <a:r>
              <a:rPr lang="en-US" dirty="0"/>
              <a:t>grey</a:t>
            </a:r>
            <a:r>
              <a:rPr dirty="0"/>
              <a:t> line connects the same child across the two conditions.</a:t>
            </a:r>
            <a:br>
              <a:rPr dirty="0"/>
            </a:br>
            <a:br>
              <a:rPr dirty="0"/>
            </a:br>
            <a:r>
              <a:rPr dirty="0"/>
              <a:t>Children produced an average of 2.15 words per response to </a:t>
            </a:r>
            <a:r>
              <a:rPr dirty="0" err="1"/>
              <a:t>wh</a:t>
            </a:r>
            <a:r>
              <a:rPr dirty="0"/>
              <a:t>-questions, compared to 1.87 words overall. Now, that difference might sound small, but for 28-month-olds, going from roughly two words to just over two words represents a meaningful increase in complexity. These kids are in the early stages of combining words, so every additional word reflects a more complex utterance structure.</a:t>
            </a:r>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05F8B-1575-9806-4827-44B5E981C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EE194-3FDE-7B6F-9BD6-4A192870A4F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C41A08-F797-19C7-9CB8-C55883DB63ED}"/>
              </a:ext>
            </a:extLst>
          </p:cNvPr>
          <p:cNvSpPr>
            <a:spLocks noGrp="1"/>
          </p:cNvSpPr>
          <p:nvPr>
            <p:ph type="body" sz="quarter" idx="3"/>
          </p:nvPr>
        </p:nvSpPr>
        <p:spPr/>
        <p:txBody>
          <a:bodyPr/>
          <a:lstStyle/>
          <a:p>
            <a:r>
              <a:rPr dirty="0"/>
              <a:t>We also wanted to see whether these lab-based patterns hold up in more naturalistic settings. Here we show the same analysis using the StoopsMontag home corpus, where 12 families were recorded reading picture books at home with children aged 24 to 36 months.</a:t>
            </a:r>
            <a:br>
              <a:rPr dirty="0"/>
            </a:br>
            <a:br>
              <a:rPr dirty="0"/>
            </a:br>
            <a:r>
              <a:rPr dirty="0"/>
              <a:t>On the left you see new books. Children responded to caregiver WH questions with an average of 4.09 words, compared to a session overall of 2.15 words. On the right, for owned or familiar books, children produced 3.53 words in response to WH questions versus 1.87 overall.</a:t>
            </a:r>
            <a:br>
              <a:rPr dirty="0"/>
            </a:br>
            <a:br>
              <a:rPr dirty="0"/>
            </a:br>
            <a:r>
              <a:rPr dirty="0"/>
              <a:t>The effect is even stronger at home. Children at home are more comfortable and produce longer utterances in general, but when they respond to WH questions, the responses are nearly double their session average. This is true for both new and familiar books, and across short, medium, and long books.</a:t>
            </a:r>
            <a:br>
              <a:rPr dirty="0"/>
            </a:br>
            <a:br>
              <a:rPr dirty="0"/>
            </a:br>
            <a:r>
              <a:rPr dirty="0"/>
              <a:t>This convergent evidence across lab and home gives us confidence that </a:t>
            </a:r>
            <a:r>
              <a:rPr dirty="0" err="1"/>
              <a:t>wh</a:t>
            </a:r>
            <a:r>
              <a:rPr dirty="0"/>
              <a:t>-questions are genuinely driving more complex child speech, not just in controlled settings but in the everyday reading interactions that families naturally have.</a:t>
            </a:r>
            <a:endParaRPr lang="en-US" dirty="0"/>
          </a:p>
          <a:p>
            <a:endParaRPr lang="en-GB" dirty="0"/>
          </a:p>
          <a:p>
            <a:r>
              <a:rPr lang="en-GB" dirty="0"/>
              <a:t>Parents at that age don't like reading long books to their child.</a:t>
            </a:r>
          </a:p>
        </p:txBody>
      </p:sp>
      <p:sp>
        <p:nvSpPr>
          <p:cNvPr id="4" name="Slide Number Placeholder 3">
            <a:extLst>
              <a:ext uri="{FF2B5EF4-FFF2-40B4-BE49-F238E27FC236}">
                <a16:creationId xmlns:a16="http://schemas.microsoft.com/office/drawing/2014/main" id="{27B82846-C0E2-BBA8-06E0-5EDBBCBE64A3}"/>
              </a:ext>
            </a:extLst>
          </p:cNvPr>
          <p:cNvSpPr>
            <a:spLocks noGrp="1"/>
          </p:cNvSpPr>
          <p:nvPr>
            <p:ph type="sldNum" sz="quarter" idx="5"/>
          </p:nvPr>
        </p:nvSpPr>
        <p:spPr/>
      </p:sp>
    </p:spTree>
    <p:extLst>
      <p:ext uri="{BB962C8B-B14F-4D97-AF65-F5344CB8AC3E}">
        <p14:creationId xmlns:p14="http://schemas.microsoft.com/office/powerpoint/2010/main" val="2978956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what does this all mean?</a:t>
            </a:r>
            <a:br>
              <a:rPr dirty="0"/>
            </a:br>
            <a:br>
              <a:rPr dirty="0"/>
            </a:br>
            <a:r>
              <a:rPr dirty="0"/>
              <a:t>First, this is the first concrete evidence that </a:t>
            </a:r>
            <a:r>
              <a:rPr dirty="0" err="1"/>
              <a:t>wh</a:t>
            </a:r>
            <a:r>
              <a:rPr dirty="0"/>
              <a:t>-questions are a particularly effective mechanism for eliciting child speech. It seemed obvious, but nobody had actually counted it systematically, so we did. Children produce longer, more complex responses when asked "what," "where," "why" questions compared to yes/no or other types.</a:t>
            </a:r>
            <a:br>
              <a:rPr dirty="0"/>
            </a:br>
            <a:br>
              <a:rPr dirty="0"/>
            </a:br>
            <a:r>
              <a:rPr dirty="0"/>
              <a:t>Second, book reading naturally generates the most </a:t>
            </a:r>
            <a:r>
              <a:rPr dirty="0" err="1"/>
              <a:t>wh</a:t>
            </a:r>
            <a:r>
              <a:rPr dirty="0"/>
              <a:t>-questions. 59 percent of all caregiver </a:t>
            </a:r>
            <a:r>
              <a:rPr dirty="0" err="1"/>
              <a:t>wh</a:t>
            </a:r>
            <a:r>
              <a:rPr dirty="0"/>
              <a:t>-questions in our data came from the book reading sessions. And this happens without any special training. Parents don't need to learn dialogic reading techniques. The act of reading a picture book together naturally prompts these kinds of questions.</a:t>
            </a:r>
            <a:br>
              <a:rPr dirty="0"/>
            </a:br>
            <a:br>
              <a:rPr dirty="0"/>
            </a:br>
            <a:r>
              <a:rPr dirty="0"/>
              <a:t>Third, this pattern is consistent. It holds across free play, snack, and book reading in the lab, and it aligns with what we see in home-based recordings. The effect is even stronger at home, which makes sense because children are more comfortable in their own environment.</a:t>
            </a:r>
            <a:br>
              <a:rPr dirty="0"/>
            </a:br>
            <a:br>
              <a:rPr dirty="0"/>
            </a:br>
            <a:r>
              <a:rPr dirty="0"/>
              <a:t>Now, stepping back, it's worth noting that WH questions are just one of many ways that book reading differs from other conversational contexts. We already know that books expose children to more unique and rare words, longer caregiver utterances, and more complex syntax than typical child-directed speech. For a long time, people assumed that the reason we tell parents to read to kids is because the questions during reading elicit child speech. But our data suggests something richer than that. Book reading is a uniquely rich linguistic environment across multiple dimensions, and WH questions are one measurable marker of that richness. They may be one of several mechanisms through which books naturally create better language learning opportunities.</a:t>
            </a:r>
            <a:br>
              <a:rPr dirty="0"/>
            </a:br>
            <a:br>
              <a:rPr dirty="0"/>
            </a:br>
            <a:r>
              <a:rPr dirty="0"/>
              <a:t>Think of different environments as different vitamins that support different aspects of development. Each activity, whether it's free play, snack, or book reading, develops different language abilities. But if you want to boost complex language, complex syntax, rare words that children will not encounter anywhere else, read a book.</a:t>
            </a:r>
            <a:br>
              <a:rPr dirty="0"/>
            </a:br>
            <a:br>
              <a:rPr dirty="0"/>
            </a:br>
            <a:r>
              <a:rPr dirty="0"/>
              <a:t>So the practical takeaway for parents is simple: just pick up a book and engage with your child. Choose a book they're interested in, that's key. They need to be interested or it's all boredom. Read at the end of the day as a calm-down activity, or whenever they want. The questions will come naturally, and those questions will help your child produce richer language. You don't need dialogic reading training. That's the shift in the field right now, from dialogic reading to active reading, supportive reading. Just go with what your child wants to do.</a:t>
            </a:r>
            <a:br>
              <a:rPr dirty="0"/>
            </a:br>
            <a:br>
              <a:rPr dirty="0"/>
            </a:br>
            <a:r>
              <a:rPr dirty="0"/>
              <a:t>If anyone in the audience has younger siblings, nieces, nephews, or will be a parent someday, be the good sport: give them a book as a present and read it to them. It's such an easy way to build complex language.</a:t>
            </a:r>
            <a:endParaRPr lang="en-US" dirty="0"/>
          </a:p>
          <a:p>
            <a:endParaRPr lang="en-US" dirty="0"/>
          </a:p>
          <a:p>
            <a:endParaRPr lang="en-GB" dirty="0"/>
          </a:p>
          <a:p>
            <a:endParaRPr lang="en-GB" dirty="0"/>
          </a:p>
          <a:p>
            <a:endParaRPr lang="en-GB" dirty="0"/>
          </a:p>
          <a:p>
            <a:endParaRPr lang="en-GB" dirty="0"/>
          </a:p>
          <a:p>
            <a:endParaRPr lang="en-GB" dirty="0"/>
          </a:p>
          <a:p>
            <a:endParaRPr lang="en-GB" dirty="0"/>
          </a:p>
          <a:p>
            <a:endParaRPr lang="en-GB" dirty="0"/>
          </a:p>
          <a:p>
            <a:endParaRPr dirty="0"/>
          </a:p>
          <a:p>
            <a:endParaRPr dirty="0"/>
          </a:p>
          <a:p>
            <a:endParaRPr dirty="0"/>
          </a:p>
          <a:p>
            <a:endParaRPr dirty="0"/>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Thank you very much. I'd like to acknowledge my mentors Dr. Jessica Montag and Dr. Anastasia Stoops in the Learning and Language Lab, and our funding from NIH, NSF, and the James S. McDonnell Foundation. I'm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3" name="TextBox 2"/>
          <p:cNvSpPr txBox="1"/>
          <p:nvPr/>
        </p:nvSpPr>
        <p:spPr>
          <a:xfrm>
            <a:off x="731520" y="457200"/>
            <a:ext cx="6858000" cy="1828800"/>
          </a:xfrm>
          <a:prstGeom prst="rect">
            <a:avLst/>
          </a:prstGeom>
          <a:noFill/>
        </p:spPr>
        <p:txBody>
          <a:bodyPr wrap="square">
            <a:spAutoFit/>
          </a:bodyPr>
          <a:lstStyle/>
          <a:p>
            <a:pPr algn="l"/>
            <a:r>
              <a:rPr lang="en-GB" sz="3200" b="1" i="0" noProof="1">
                <a:solidFill>
                  <a:srgbClr val="2D3A4A"/>
                </a:solidFill>
                <a:latin typeface="Georgia"/>
              </a:rPr>
              <a:t>Question-Elicited Speech Across
Naturalistic Language
Learning Environments</a:t>
            </a:r>
          </a:p>
        </p:txBody>
      </p:sp>
      <p:sp>
        <p:nvSpPr>
          <p:cNvPr id="4" name="TextBox 3"/>
          <p:cNvSpPr txBox="1"/>
          <p:nvPr/>
        </p:nvSpPr>
        <p:spPr>
          <a:xfrm>
            <a:off x="731519" y="2604564"/>
            <a:ext cx="5727153" cy="369332"/>
          </a:xfrm>
          <a:prstGeom prst="rect">
            <a:avLst/>
          </a:prstGeom>
          <a:noFill/>
        </p:spPr>
        <p:txBody>
          <a:bodyPr wrap="square">
            <a:spAutoFit/>
          </a:bodyPr>
          <a:lstStyle/>
          <a:p>
            <a:pPr algn="l"/>
            <a:r>
              <a:rPr lang="en-GB" b="0" i="0" noProof="1">
                <a:solidFill>
                  <a:srgbClr val="2D3A4A"/>
                </a:solidFill>
                <a:latin typeface="Calibri"/>
              </a:rPr>
              <a:t>Adaora Mbanefo, Dr. Anastasia Stoops, Dr. Jessica Montag</a:t>
            </a:r>
          </a:p>
        </p:txBody>
      </p:sp>
      <p:sp>
        <p:nvSpPr>
          <p:cNvPr id="5" name="TextBox 4"/>
          <p:cNvSpPr txBox="1"/>
          <p:nvPr/>
        </p:nvSpPr>
        <p:spPr>
          <a:xfrm>
            <a:off x="731520" y="3017520"/>
            <a:ext cx="5486400" cy="365760"/>
          </a:xfrm>
          <a:prstGeom prst="rect">
            <a:avLst/>
          </a:prstGeom>
          <a:noFill/>
        </p:spPr>
        <p:txBody>
          <a:bodyPr wrap="square">
            <a:spAutoFit/>
          </a:bodyPr>
          <a:lstStyle/>
          <a:p>
            <a:pPr algn="l"/>
            <a:r>
              <a:rPr lang="en-GB" sz="1400" b="0" i="1" noProof="1">
                <a:solidFill>
                  <a:srgbClr val="64748B"/>
                </a:solidFill>
                <a:latin typeface="Calibri"/>
              </a:rPr>
              <a:t>Learning and Language Lab  |  Undergraduate Research Symposium</a:t>
            </a:r>
          </a:p>
        </p:txBody>
      </p:sp>
      <p:sp>
        <p:nvSpPr>
          <p:cNvPr id="10" name="Rectangle 9"/>
          <p:cNvSpPr/>
          <p:nvPr/>
        </p:nvSpPr>
        <p:spPr>
          <a:xfrm>
            <a:off x="731520" y="3566160"/>
            <a:ext cx="13716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pic>
        <p:nvPicPr>
          <p:cNvPr id="13" name="Picture 2" descr="Children Playing with People of All Ages — Building Brains Together">
            <a:extLst>
              <a:ext uri="{FF2B5EF4-FFF2-40B4-BE49-F238E27FC236}">
                <a16:creationId xmlns:a16="http://schemas.microsoft.com/office/drawing/2014/main" id="{46604FB9-B368-C6EE-1EDD-DBDFB67E5DD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520" y="3949200"/>
            <a:ext cx="288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rents and caregivers learn how to best support young children">
            <a:extLst>
              <a:ext uri="{FF2B5EF4-FFF2-40B4-BE49-F238E27FC236}">
                <a16:creationId xmlns:a16="http://schemas.microsoft.com/office/drawing/2014/main" id="{03BD19EB-F842-F135-ABAA-57FD6008B5C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9520" y="457200"/>
            <a:ext cx="2880000" cy="2160000"/>
          </a:xfrm>
          <a:prstGeom prst="rect">
            <a:avLst/>
          </a:prstGeom>
          <a:noFill/>
          <a:effectLst>
            <a:softEdge rad="0"/>
          </a:effectLst>
          <a:extLst>
            <a:ext uri="{909E8E84-426E-40DD-AFC4-6F175D3DCCD1}">
              <a14:hiddenFill xmlns:a14="http://schemas.microsoft.com/office/drawing/2010/main">
                <a:solidFill>
                  <a:srgbClr val="FFFFFF"/>
                </a:solidFill>
              </a14:hiddenFill>
            </a:ext>
          </a:extLst>
        </p:spPr>
      </p:pic>
      <p:pic>
        <p:nvPicPr>
          <p:cNvPr id="1030" name="Picture 6" descr="Millennial Parents Share What They're Doing Differently">
            <a:extLst>
              <a:ext uri="{FF2B5EF4-FFF2-40B4-BE49-F238E27FC236}">
                <a16:creationId xmlns:a16="http://schemas.microsoft.com/office/drawing/2014/main" id="{AB735B22-26EA-42D1-7A61-C55A399721B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66579" y="2873540"/>
            <a:ext cx="2880000" cy="216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315200" cy="640080"/>
          </a:xfrm>
          <a:prstGeom prst="rect">
            <a:avLst/>
          </a:prstGeom>
          <a:noFill/>
        </p:spPr>
        <p:txBody>
          <a:bodyPr wrap="square">
            <a:spAutoFit/>
          </a:bodyPr>
          <a:lstStyle/>
          <a:p>
            <a:pPr algn="l"/>
            <a:r>
              <a:rPr lang="en-GB" sz="3600" b="1" i="0" noProof="1">
                <a:solidFill>
                  <a:srgbClr val="2D3A4A"/>
                </a:solidFill>
                <a:latin typeface="Georgia"/>
              </a:rPr>
              <a:t>Why Questions Matter</a:t>
            </a:r>
          </a:p>
        </p:txBody>
      </p:sp>
      <p:sp>
        <p:nvSpPr>
          <p:cNvPr id="3" name="Rectangle 2"/>
          <p:cNvSpPr/>
          <p:nvPr/>
        </p:nvSpPr>
        <p:spPr>
          <a:xfrm>
            <a:off x="731520" y="1188720"/>
            <a:ext cx="3200400" cy="2743200"/>
          </a:xfrm>
          <a:prstGeom prst="rect">
            <a:avLst/>
          </a:prstGeom>
          <a:solidFill>
            <a:srgbClr val="FDEDE8"/>
          </a:solidFill>
          <a:ln w="25400">
            <a:solidFill>
              <a:srgbClr val="B0C4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GB" sz="1200" i="1" noProof="1">
                <a:solidFill>
                  <a:srgbClr val="64748B"/>
                </a:solidFill>
                <a:latin typeface="Calibri"/>
              </a:rPr>
              <a:t>✂ ADD PHOTO:
Caregiver reading to child,
pointing at book, asking questions</a:t>
            </a:r>
          </a:p>
        </p:txBody>
      </p:sp>
      <p:sp>
        <p:nvSpPr>
          <p:cNvPr id="4" name="TextBox 3"/>
          <p:cNvSpPr txBox="1"/>
          <p:nvPr/>
        </p:nvSpPr>
        <p:spPr>
          <a:xfrm>
            <a:off x="731520" y="4023360"/>
            <a:ext cx="3200400" cy="548640"/>
          </a:xfrm>
          <a:prstGeom prst="rect">
            <a:avLst/>
          </a:prstGeom>
          <a:noFill/>
        </p:spPr>
        <p:txBody>
          <a:bodyPr wrap="square">
            <a:spAutoFit/>
          </a:bodyPr>
          <a:lstStyle/>
          <a:p>
            <a:pPr algn="ctr"/>
            <a:r>
              <a:rPr lang="en-GB" sz="1100" b="0" i="1" noProof="1">
                <a:solidFill>
                  <a:srgbClr val="64748B"/>
                </a:solidFill>
                <a:latin typeface="Calibri"/>
              </a:rPr>
              <a:t>Dialogic reading interventions
(Whitehurst et al., 1988; Rowe et al., 2016)</a:t>
            </a:r>
          </a:p>
        </p:txBody>
      </p:sp>
      <p:sp>
        <p:nvSpPr>
          <p:cNvPr id="5" name="Oval 4"/>
          <p:cNvSpPr/>
          <p:nvPr/>
        </p:nvSpPr>
        <p:spPr>
          <a:xfrm>
            <a:off x="4754880" y="1645920"/>
            <a:ext cx="2286000" cy="2011680"/>
          </a:xfrm>
          <a:prstGeom prst="ellipse">
            <a:avLst/>
          </a:prstGeom>
          <a:solidFill>
            <a:srgbClr val="FFF3CD"/>
          </a:solidFill>
          <a:ln w="38100">
            <a:solidFill>
              <a:srgbClr val="F9C7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6" name="TextBox 5"/>
          <p:cNvSpPr txBox="1"/>
          <p:nvPr/>
        </p:nvSpPr>
        <p:spPr>
          <a:xfrm>
            <a:off x="4937760" y="2076770"/>
            <a:ext cx="1920240" cy="1828800"/>
          </a:xfrm>
          <a:prstGeom prst="rect">
            <a:avLst/>
          </a:prstGeom>
          <a:noFill/>
        </p:spPr>
        <p:txBody>
          <a:bodyPr wrap="square">
            <a:spAutoFit/>
          </a:bodyPr>
          <a:lstStyle/>
          <a:p>
            <a:pPr algn="ctr"/>
            <a:r>
              <a:rPr lang="en-GB" sz="1600" b="1" i="0" noProof="1">
                <a:solidFill>
                  <a:srgbClr val="2D3A4A"/>
                </a:solidFill>
                <a:latin typeface="Georgia"/>
              </a:rPr>
              <a:t>Do questions
actually elicit
more complex
child speech?</a:t>
            </a:r>
          </a:p>
        </p:txBody>
      </p:sp>
      <p:sp>
        <p:nvSpPr>
          <p:cNvPr id="7" name="TextBox 6"/>
          <p:cNvSpPr txBox="1"/>
          <p:nvPr/>
        </p:nvSpPr>
        <p:spPr>
          <a:xfrm>
            <a:off x="4114800" y="2286000"/>
            <a:ext cx="548640" cy="457200"/>
          </a:xfrm>
          <a:prstGeom prst="rect">
            <a:avLst/>
          </a:prstGeom>
          <a:noFill/>
        </p:spPr>
        <p:txBody>
          <a:bodyPr wrap="square">
            <a:spAutoFit/>
          </a:bodyPr>
          <a:lstStyle/>
          <a:p>
            <a:pPr algn="ctr"/>
            <a:r>
              <a:rPr lang="en-GB" sz="3600" b="1" i="0" noProof="1">
                <a:solidFill>
                  <a:srgbClr val="F96167"/>
                </a:solidFill>
                <a:latin typeface="Calibri"/>
              </a:rPr>
              <a:t>→</a:t>
            </a:r>
          </a:p>
        </p:txBody>
      </p:sp>
      <p:sp>
        <p:nvSpPr>
          <p:cNvPr id="8" name="Rectangle 7"/>
          <p:cNvSpPr/>
          <p:nvPr/>
        </p:nvSpPr>
        <p:spPr>
          <a:xfrm>
            <a:off x="7772400" y="1188720"/>
            <a:ext cx="3200400" cy="2743200"/>
          </a:xfrm>
          <a:prstGeom prst="rect">
            <a:avLst/>
          </a:prstGeom>
          <a:solidFill>
            <a:srgbClr val="E8F5E9"/>
          </a:solidFill>
          <a:ln w="25400">
            <a:solidFill>
              <a:srgbClr val="B0C4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GB" sz="1200" i="1" noProof="1">
                <a:solidFill>
                  <a:srgbClr val="64748B"/>
                </a:solidFill>
                <a:latin typeface="Calibri"/>
              </a:rPr>
              <a:t>✂ ADD PHOTO:
Natural/active reading
(child engaged, relaxed)</a:t>
            </a:r>
          </a:p>
        </p:txBody>
      </p:sp>
      <p:sp>
        <p:nvSpPr>
          <p:cNvPr id="9" name="TextBox 8"/>
          <p:cNvSpPr txBox="1"/>
          <p:nvPr/>
        </p:nvSpPr>
        <p:spPr>
          <a:xfrm>
            <a:off x="7772400" y="4023360"/>
            <a:ext cx="3200400" cy="548640"/>
          </a:xfrm>
          <a:prstGeom prst="rect">
            <a:avLst/>
          </a:prstGeom>
          <a:noFill/>
        </p:spPr>
        <p:txBody>
          <a:bodyPr wrap="square">
            <a:spAutoFit/>
          </a:bodyPr>
          <a:lstStyle/>
          <a:p>
            <a:pPr algn="ctr"/>
            <a:r>
              <a:rPr lang="en-GB" sz="1100" b="0" i="1" noProof="1">
                <a:solidFill>
                  <a:srgbClr val="64748B"/>
                </a:solidFill>
                <a:latin typeface="Calibri"/>
              </a:rPr>
              <a:t>Active reading may be equally effective
(Noble et al., 2020)</a:t>
            </a:r>
          </a:p>
        </p:txBody>
      </p:sp>
      <p:sp>
        <p:nvSpPr>
          <p:cNvPr id="10" name="Rectangle 9"/>
          <p:cNvSpPr/>
          <p:nvPr/>
        </p:nvSpPr>
        <p:spPr>
          <a:xfrm>
            <a:off x="731520" y="4846320"/>
            <a:ext cx="10698480" cy="1097280"/>
          </a:xfrm>
          <a:prstGeom prst="rect">
            <a:avLst/>
          </a:prstGeom>
          <a:solidFill>
            <a:srgbClr val="F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1" name="TextBox 10"/>
          <p:cNvSpPr txBox="1"/>
          <p:nvPr/>
        </p:nvSpPr>
        <p:spPr>
          <a:xfrm>
            <a:off x="1097280" y="5029200"/>
            <a:ext cx="10058400" cy="731520"/>
          </a:xfrm>
          <a:prstGeom prst="rect">
            <a:avLst/>
          </a:prstGeom>
          <a:noFill/>
        </p:spPr>
        <p:txBody>
          <a:bodyPr wrap="square">
            <a:spAutoFit/>
          </a:bodyPr>
          <a:lstStyle/>
          <a:p>
            <a:pPr algn="ctr"/>
            <a:r>
              <a:rPr lang="en-GB" sz="1800" b="1" i="0" noProof="1">
                <a:solidFill>
                  <a:srgbClr val="F96167"/>
                </a:solidFill>
                <a:latin typeface="Calibri"/>
              </a:rPr>
              <a:t>Minimal evidence that questions in fact elicit more complex child speech.
This is our motivation.</a:t>
            </a:r>
          </a:p>
        </p:txBody>
      </p:sp>
      <p:pic>
        <p:nvPicPr>
          <p:cNvPr id="2050" name="Picture 2" descr="24,900+ Finger Pointing Book Stock Photos, Pictures &amp; Royalty-Free Images -  iStock | Building friendship, Confessing, Deep conversation">
            <a:extLst>
              <a:ext uri="{FF2B5EF4-FFF2-40B4-BE49-F238E27FC236}">
                <a16:creationId xmlns:a16="http://schemas.microsoft.com/office/drawing/2014/main" id="{0BA5EA2B-1A3A-EBBA-CA47-7CEF19475C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960" y="1188720"/>
            <a:ext cx="3291840" cy="283464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ialogic Reading with your Toddler">
            <a:extLst>
              <a:ext uri="{FF2B5EF4-FFF2-40B4-BE49-F238E27FC236}">
                <a16:creationId xmlns:a16="http://schemas.microsoft.com/office/drawing/2014/main" id="{53858618-AA3F-D30C-C1B9-3CFC3F9013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399" y="1097280"/>
            <a:ext cx="3454401" cy="29260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9144000" cy="640080"/>
          </a:xfrm>
          <a:prstGeom prst="rect">
            <a:avLst/>
          </a:prstGeom>
          <a:noFill/>
        </p:spPr>
        <p:txBody>
          <a:bodyPr wrap="square">
            <a:spAutoFit/>
          </a:bodyPr>
          <a:lstStyle/>
          <a:p>
            <a:pPr algn="l"/>
            <a:r>
              <a:rPr lang="en-GB" sz="3600" b="1" i="0" noProof="1">
                <a:solidFill>
                  <a:srgbClr val="2D3A4A"/>
                </a:solidFill>
                <a:latin typeface="Georgia"/>
              </a:rPr>
              <a:t>What We Already Know</a:t>
            </a:r>
          </a:p>
        </p:txBody>
      </p:sp>
      <p:sp>
        <p:nvSpPr>
          <p:cNvPr id="3" name="TextBox 2"/>
          <p:cNvSpPr txBox="1"/>
          <p:nvPr/>
        </p:nvSpPr>
        <p:spPr>
          <a:xfrm>
            <a:off x="2234747" y="1229975"/>
            <a:ext cx="2649740" cy="307777"/>
          </a:xfrm>
          <a:prstGeom prst="rect">
            <a:avLst/>
          </a:prstGeom>
          <a:noFill/>
        </p:spPr>
        <p:txBody>
          <a:bodyPr wrap="square">
            <a:spAutoFit/>
          </a:bodyPr>
          <a:lstStyle/>
          <a:p>
            <a:pPr algn="l"/>
            <a:r>
              <a:rPr lang="en-GB" sz="1400" b="1" i="0" noProof="1">
                <a:solidFill>
                  <a:srgbClr val="0D9488"/>
                </a:solidFill>
                <a:latin typeface="Calibri"/>
              </a:rPr>
              <a:t>Prior Finding (Stoops et al., 2024)</a:t>
            </a:r>
          </a:p>
        </p:txBody>
      </p:sp>
      <p:sp>
        <p:nvSpPr>
          <p:cNvPr id="4" name="Rectangle 3"/>
          <p:cNvSpPr/>
          <p:nvPr/>
        </p:nvSpPr>
        <p:spPr>
          <a:xfrm>
            <a:off x="731519" y="1645920"/>
            <a:ext cx="6010243" cy="3566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5" name="TextBox 4"/>
          <p:cNvSpPr txBox="1"/>
          <p:nvPr/>
        </p:nvSpPr>
        <p:spPr>
          <a:xfrm>
            <a:off x="4300000" y="1828800"/>
            <a:ext cx="2400000" cy="365760"/>
          </a:xfrm>
          <a:prstGeom prst="rect">
            <a:avLst/>
          </a:prstGeom>
          <a:noFill/>
        </p:spPr>
        <p:txBody>
          <a:bodyPr wrap="square">
            <a:spAutoFit/>
          </a:bodyPr>
          <a:lstStyle/>
          <a:p>
            <a:pPr algn="l"/>
            <a:r>
              <a:rPr lang="en-GB" sz="1300" b="0" i="0" noProof="1">
                <a:solidFill>
                  <a:srgbClr val="2D3A4A"/>
                </a:solidFill>
                <a:latin typeface="Calibri"/>
              </a:rPr>
              <a:t>20 hrs home recordings
(StoopsMontag, 2024)</a:t>
            </a:r>
          </a:p>
        </p:txBody>
      </p:sp>
      <p:sp>
        <p:nvSpPr>
          <p:cNvPr id="6" name="TextBox 5"/>
          <p:cNvSpPr txBox="1"/>
          <p:nvPr/>
        </p:nvSpPr>
        <p:spPr>
          <a:xfrm>
            <a:off x="1097280" y="2286000"/>
            <a:ext cx="2286000" cy="365760"/>
          </a:xfrm>
          <a:prstGeom prst="rect">
            <a:avLst/>
          </a:prstGeom>
          <a:noFill/>
        </p:spPr>
        <p:txBody>
          <a:bodyPr wrap="square">
            <a:spAutoFit/>
          </a:bodyPr>
          <a:lstStyle/>
          <a:p>
            <a:pPr algn="l"/>
            <a:r>
              <a:rPr lang="en-GB" sz="1400" b="0" i="0" noProof="1">
                <a:solidFill>
                  <a:srgbClr val="64748B"/>
                </a:solidFill>
                <a:latin typeface="Calibri"/>
              </a:rPr>
              <a:t>Turn-taking counts:</a:t>
            </a:r>
          </a:p>
        </p:txBody>
      </p:sp>
      <p:sp>
        <p:nvSpPr>
          <p:cNvPr id="7" name="Rectangle 6"/>
          <p:cNvSpPr/>
          <p:nvPr/>
        </p:nvSpPr>
        <p:spPr>
          <a:xfrm>
            <a:off x="1371601" y="2743200"/>
            <a:ext cx="1461599" cy="1828800"/>
          </a:xfrm>
          <a:prstGeom prst="rect">
            <a:avLst/>
          </a:prstGeom>
          <a:solidFill>
            <a:srgbClr val="84B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8" name="TextBox 7"/>
          <p:cNvSpPr txBox="1"/>
          <p:nvPr/>
        </p:nvSpPr>
        <p:spPr>
          <a:xfrm>
            <a:off x="1554700" y="4564856"/>
            <a:ext cx="1097280" cy="369332"/>
          </a:xfrm>
          <a:prstGeom prst="rect">
            <a:avLst/>
          </a:prstGeom>
          <a:noFill/>
        </p:spPr>
        <p:txBody>
          <a:bodyPr wrap="square">
            <a:spAutoFit/>
          </a:bodyPr>
          <a:lstStyle/>
          <a:p>
            <a:pPr algn="ctr"/>
            <a:r>
              <a:rPr lang="en-GB" b="0" i="0" noProof="1">
                <a:solidFill>
                  <a:srgbClr val="64748B"/>
                </a:solidFill>
                <a:latin typeface="Calibri"/>
              </a:rPr>
              <a:t>Free Play</a:t>
            </a:r>
          </a:p>
        </p:txBody>
      </p:sp>
      <p:sp>
        <p:nvSpPr>
          <p:cNvPr id="9" name="Rectangle 8"/>
          <p:cNvSpPr/>
          <p:nvPr/>
        </p:nvSpPr>
        <p:spPr>
          <a:xfrm>
            <a:off x="3014922" y="3110401"/>
            <a:ext cx="1461599" cy="1461599"/>
          </a:xfrm>
          <a:prstGeom prst="rect">
            <a:avLst/>
          </a:prstGeom>
          <a:solidFill>
            <a:srgbClr val="F9C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0" name="TextBox 9"/>
          <p:cNvSpPr txBox="1"/>
          <p:nvPr/>
        </p:nvSpPr>
        <p:spPr>
          <a:xfrm>
            <a:off x="3174719" y="4559195"/>
            <a:ext cx="1097280" cy="369332"/>
          </a:xfrm>
          <a:prstGeom prst="rect">
            <a:avLst/>
          </a:prstGeom>
          <a:noFill/>
        </p:spPr>
        <p:txBody>
          <a:bodyPr wrap="square">
            <a:spAutoFit/>
          </a:bodyPr>
          <a:lstStyle/>
          <a:p>
            <a:pPr algn="ctr"/>
            <a:r>
              <a:rPr lang="en-GB" b="0" i="0" noProof="1">
                <a:solidFill>
                  <a:srgbClr val="64748B"/>
                </a:solidFill>
                <a:latin typeface="Calibri"/>
              </a:rPr>
              <a:t>Snack</a:t>
            </a:r>
          </a:p>
        </p:txBody>
      </p:sp>
      <p:sp>
        <p:nvSpPr>
          <p:cNvPr id="11" name="Rectangle 10"/>
          <p:cNvSpPr/>
          <p:nvPr/>
        </p:nvSpPr>
        <p:spPr>
          <a:xfrm>
            <a:off x="4751562" y="3477600"/>
            <a:ext cx="1461599" cy="1094400"/>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2" name="TextBox 11"/>
          <p:cNvSpPr txBox="1"/>
          <p:nvPr/>
        </p:nvSpPr>
        <p:spPr>
          <a:xfrm>
            <a:off x="4958240" y="4559195"/>
            <a:ext cx="1097280" cy="369332"/>
          </a:xfrm>
          <a:prstGeom prst="rect">
            <a:avLst/>
          </a:prstGeom>
          <a:noFill/>
        </p:spPr>
        <p:txBody>
          <a:bodyPr wrap="square">
            <a:spAutoFit/>
          </a:bodyPr>
          <a:lstStyle/>
          <a:p>
            <a:pPr algn="ctr"/>
            <a:r>
              <a:rPr lang="en-GB" b="0" i="0" noProof="1">
                <a:solidFill>
                  <a:srgbClr val="64748B"/>
                </a:solidFill>
                <a:latin typeface="Calibri"/>
              </a:rPr>
              <a:t>Book</a:t>
            </a:r>
          </a:p>
        </p:txBody>
      </p:sp>
      <p:sp>
        <p:nvSpPr>
          <p:cNvPr id="13" name="TextBox 12"/>
          <p:cNvSpPr txBox="1"/>
          <p:nvPr/>
        </p:nvSpPr>
        <p:spPr>
          <a:xfrm>
            <a:off x="4513881" y="3017520"/>
            <a:ext cx="1828800" cy="457200"/>
          </a:xfrm>
          <a:prstGeom prst="rect">
            <a:avLst/>
          </a:prstGeom>
          <a:noFill/>
        </p:spPr>
        <p:txBody>
          <a:bodyPr wrap="square">
            <a:spAutoFit/>
          </a:bodyPr>
          <a:lstStyle/>
          <a:p>
            <a:pPr algn="l"/>
            <a:r>
              <a:rPr lang="en-GB" sz="1400" b="1" i="0" noProof="1">
                <a:solidFill>
                  <a:srgbClr val="F96167"/>
                </a:solidFill>
                <a:latin typeface="Calibri"/>
              </a:rPr>
              <a:t>✗ Not the most turns!</a:t>
            </a:r>
          </a:p>
        </p:txBody>
      </p:sp>
      <p:sp>
        <p:nvSpPr>
          <p:cNvPr id="14" name="TextBox 13"/>
          <p:cNvSpPr txBox="1"/>
          <p:nvPr/>
        </p:nvSpPr>
        <p:spPr>
          <a:xfrm>
            <a:off x="8868074" y="1236292"/>
            <a:ext cx="900561" cy="307777"/>
          </a:xfrm>
          <a:prstGeom prst="rect">
            <a:avLst/>
          </a:prstGeom>
          <a:noFill/>
        </p:spPr>
        <p:txBody>
          <a:bodyPr wrap="square">
            <a:spAutoFit/>
          </a:bodyPr>
          <a:lstStyle/>
          <a:p>
            <a:pPr algn="l"/>
            <a:r>
              <a:rPr lang="en-GB" sz="1400" b="1" i="0" noProof="1">
                <a:solidFill>
                  <a:srgbClr val="0D9488"/>
                </a:solidFill>
                <a:latin typeface="Calibri"/>
              </a:rPr>
              <a:t>The Shift</a:t>
            </a:r>
          </a:p>
        </p:txBody>
      </p:sp>
      <p:sp>
        <p:nvSpPr>
          <p:cNvPr id="15" name="Rectangle 14"/>
          <p:cNvSpPr/>
          <p:nvPr/>
        </p:nvSpPr>
        <p:spPr>
          <a:xfrm>
            <a:off x="6803756" y="1645920"/>
            <a:ext cx="502920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6" name="TextBox 15"/>
          <p:cNvSpPr txBox="1"/>
          <p:nvPr/>
        </p:nvSpPr>
        <p:spPr>
          <a:xfrm>
            <a:off x="7908010" y="1962388"/>
            <a:ext cx="2820691" cy="369332"/>
          </a:xfrm>
          <a:prstGeom prst="rect">
            <a:avLst/>
          </a:prstGeom>
          <a:noFill/>
        </p:spPr>
        <p:txBody>
          <a:bodyPr wrap="square">
            <a:spAutoFit/>
          </a:bodyPr>
          <a:lstStyle/>
          <a:p>
            <a:pPr algn="l"/>
            <a:r>
              <a:rPr lang="en-GB" sz="1800" b="0" i="1" noProof="1">
                <a:solidFill>
                  <a:srgbClr val="64748B"/>
                </a:solidFill>
                <a:latin typeface="Calibri"/>
              </a:rPr>
              <a:t>If not the quantity of turns...</a:t>
            </a:r>
          </a:p>
        </p:txBody>
      </p:sp>
      <p:sp>
        <p:nvSpPr>
          <p:cNvPr id="17" name="TextBox 16"/>
          <p:cNvSpPr txBox="1"/>
          <p:nvPr/>
        </p:nvSpPr>
        <p:spPr>
          <a:xfrm>
            <a:off x="8903776" y="2374343"/>
            <a:ext cx="782664" cy="553998"/>
          </a:xfrm>
          <a:prstGeom prst="rect">
            <a:avLst/>
          </a:prstGeom>
          <a:noFill/>
        </p:spPr>
        <p:txBody>
          <a:bodyPr wrap="square">
            <a:spAutoFit/>
          </a:bodyPr>
          <a:lstStyle/>
          <a:p>
            <a:pPr algn="ctr"/>
            <a:r>
              <a:rPr lang="en-GB" sz="3000" b="1" i="0" noProof="1">
                <a:solidFill>
                  <a:srgbClr val="0D9488"/>
                </a:solidFill>
                <a:latin typeface="Calibri"/>
              </a:rPr>
              <a:t>↓</a:t>
            </a:r>
          </a:p>
        </p:txBody>
      </p:sp>
      <p:sp>
        <p:nvSpPr>
          <p:cNvPr id="18" name="TextBox 17"/>
          <p:cNvSpPr txBox="1"/>
          <p:nvPr/>
        </p:nvSpPr>
        <p:spPr>
          <a:xfrm>
            <a:off x="7840591" y="3017520"/>
            <a:ext cx="3178507" cy="769441"/>
          </a:xfrm>
          <a:prstGeom prst="rect">
            <a:avLst/>
          </a:prstGeom>
          <a:noFill/>
        </p:spPr>
        <p:txBody>
          <a:bodyPr wrap="square">
            <a:spAutoFit/>
          </a:bodyPr>
          <a:lstStyle/>
          <a:p>
            <a:pPr algn="ctr"/>
            <a:r>
              <a:rPr lang="en-GB" sz="2200" b="1" i="0" noProof="1">
                <a:solidFill>
                  <a:srgbClr val="0D9488"/>
                </a:solidFill>
                <a:latin typeface="Calibri"/>
              </a:rPr>
              <a:t>What about the QUALITY
of the questions?</a:t>
            </a:r>
          </a:p>
        </p:txBody>
      </p:sp>
      <p:sp>
        <p:nvSpPr>
          <p:cNvPr id="19" name="TextBox 18"/>
          <p:cNvSpPr txBox="1"/>
          <p:nvPr/>
        </p:nvSpPr>
        <p:spPr>
          <a:xfrm>
            <a:off x="731520" y="5486400"/>
            <a:ext cx="10698480" cy="584775"/>
          </a:xfrm>
          <a:prstGeom prst="rect">
            <a:avLst/>
          </a:prstGeom>
          <a:noFill/>
        </p:spPr>
        <p:txBody>
          <a:bodyPr wrap="square">
            <a:spAutoFit/>
          </a:bodyPr>
          <a:lstStyle/>
          <a:p>
            <a:pPr algn="ctr"/>
            <a:r>
              <a:rPr lang="en-GB" sz="1600" b="0" i="1" noProof="1">
                <a:solidFill>
                  <a:srgbClr val="2D3A4A"/>
                </a:solidFill>
                <a:latin typeface="Calibri"/>
              </a:rPr>
              <a:t>Not all turns are created equal!</a:t>
            </a:r>
          </a:p>
          <a:p>
            <a:pPr algn="ctr"/>
            <a:r>
              <a:rPr lang="en-GB" sz="1600" i="1" noProof="1">
                <a:solidFill>
                  <a:srgbClr val="2D3A4A"/>
                </a:solidFill>
                <a:latin typeface="Calibri"/>
              </a:rPr>
              <a:t>T</a:t>
            </a:r>
            <a:r>
              <a:rPr lang="en-GB" sz="1600" b="0" i="1" noProof="1">
                <a:solidFill>
                  <a:srgbClr val="2D3A4A"/>
                </a:solidFill>
                <a:latin typeface="Calibri"/>
              </a:rPr>
              <a:t>he type of question may matter more than the number of exchanges</a:t>
            </a:r>
          </a:p>
        </p:txBody>
      </p:sp>
      <p:sp>
        <p:nvSpPr>
          <p:cNvPr id="20" name="TextBox 19"/>
          <p:cNvSpPr txBox="1"/>
          <p:nvPr/>
        </p:nvSpPr>
        <p:spPr>
          <a:xfrm>
            <a:off x="1100000" y="1828800"/>
            <a:ext cx="3200000" cy="500000"/>
          </a:xfrm>
          <a:prstGeom prst="rect">
            <a:avLst/>
          </a:prstGeom>
          <a:noFill/>
        </p:spPr>
        <p:txBody>
          <a:bodyPr wrap="square">
            <a:spAutoFit/>
          </a:bodyPr>
          <a:lstStyle/>
          <a:p>
            <a:r>
              <a:rPr sz="1300">
                <a:solidFill>
                  <a:srgbClr val="2D3A4A"/>
                </a:solidFill>
              </a:rPr>
              <a:t>10 hrs child-caregiver speech
(Bates, 1988)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7315200" cy="640080"/>
          </a:xfrm>
          <a:prstGeom prst="rect">
            <a:avLst/>
          </a:prstGeom>
          <a:noFill/>
        </p:spPr>
        <p:txBody>
          <a:bodyPr wrap="square">
            <a:spAutoFit/>
          </a:bodyPr>
          <a:lstStyle/>
          <a:p>
            <a:pPr algn="l"/>
            <a:r>
              <a:rPr lang="en-GB" sz="3600" b="1" i="0" noProof="1">
                <a:solidFill>
                  <a:srgbClr val="FFFFFF"/>
                </a:solidFill>
                <a:latin typeface="Georgia"/>
              </a:rPr>
              <a:t>Research Question</a:t>
            </a:r>
          </a:p>
        </p:txBody>
      </p:sp>
      <p:sp>
        <p:nvSpPr>
          <p:cNvPr id="4" name="TextBox 3"/>
          <p:cNvSpPr txBox="1"/>
          <p:nvPr/>
        </p:nvSpPr>
        <p:spPr>
          <a:xfrm>
            <a:off x="5279770" y="2653962"/>
            <a:ext cx="1371600" cy="1828800"/>
          </a:xfrm>
          <a:prstGeom prst="rect">
            <a:avLst/>
          </a:prstGeom>
          <a:noFill/>
        </p:spPr>
        <p:txBody>
          <a:bodyPr wrap="square">
            <a:spAutoFit/>
          </a:bodyPr>
          <a:lstStyle/>
          <a:p>
            <a:pPr algn="ctr"/>
            <a:r>
              <a:rPr lang="en-GB" sz="12000" b="1" i="0" noProof="1">
                <a:solidFill>
                  <a:srgbClr val="F96167"/>
                </a:solidFill>
                <a:latin typeface="Georgia"/>
              </a:rPr>
              <a:t>?</a:t>
            </a:r>
          </a:p>
        </p:txBody>
      </p:sp>
      <p:sp>
        <p:nvSpPr>
          <p:cNvPr id="5" name="TextBox 4"/>
          <p:cNvSpPr txBox="1"/>
          <p:nvPr/>
        </p:nvSpPr>
        <p:spPr>
          <a:xfrm>
            <a:off x="6238066" y="1828800"/>
            <a:ext cx="5850609" cy="1015663"/>
          </a:xfrm>
          <a:prstGeom prst="rect">
            <a:avLst/>
          </a:prstGeom>
          <a:noFill/>
        </p:spPr>
        <p:txBody>
          <a:bodyPr wrap="square">
            <a:spAutoFit/>
          </a:bodyPr>
          <a:lstStyle/>
          <a:p>
            <a:pPr algn="l"/>
            <a:r>
              <a:rPr lang="en-GB" sz="3000" b="1" i="0" noProof="1">
                <a:solidFill>
                  <a:srgbClr val="FFFFFF"/>
                </a:solidFill>
                <a:latin typeface="Georgia"/>
              </a:rPr>
              <a:t>Do wh-questions elicit more
complex child speech?</a:t>
            </a:r>
          </a:p>
        </p:txBody>
      </p:sp>
      <p:sp>
        <p:nvSpPr>
          <p:cNvPr id="6" name="TextBox 5"/>
          <p:cNvSpPr txBox="1"/>
          <p:nvPr/>
        </p:nvSpPr>
        <p:spPr>
          <a:xfrm>
            <a:off x="6517033" y="3017520"/>
            <a:ext cx="5246178" cy="369332"/>
          </a:xfrm>
          <a:prstGeom prst="rect">
            <a:avLst/>
          </a:prstGeom>
          <a:noFill/>
        </p:spPr>
        <p:txBody>
          <a:bodyPr wrap="square">
            <a:spAutoFit/>
          </a:bodyPr>
          <a:lstStyle/>
          <a:p>
            <a:pPr algn="l"/>
            <a:r>
              <a:rPr lang="en-GB" sz="1800" b="0" i="1" noProof="1">
                <a:solidFill>
                  <a:srgbClr val="F9C74F"/>
                </a:solidFill>
                <a:latin typeface="Calibri"/>
              </a:rPr>
              <a:t>"What's that?"   "Where did it go?"   "Why is she sad?"</a:t>
            </a:r>
          </a:p>
        </p:txBody>
      </p:sp>
      <p:sp>
        <p:nvSpPr>
          <p:cNvPr id="7" name="TextBox 6"/>
          <p:cNvSpPr txBox="1"/>
          <p:nvPr/>
        </p:nvSpPr>
        <p:spPr>
          <a:xfrm>
            <a:off x="7028482" y="4114800"/>
            <a:ext cx="4982705" cy="365760"/>
          </a:xfrm>
          <a:prstGeom prst="rect">
            <a:avLst/>
          </a:prstGeom>
          <a:noFill/>
        </p:spPr>
        <p:txBody>
          <a:bodyPr wrap="square">
            <a:spAutoFit/>
          </a:bodyPr>
          <a:lstStyle/>
          <a:p>
            <a:pPr algn="l"/>
            <a:r>
              <a:rPr lang="en-GB" sz="1800" b="0" i="0" noProof="1">
                <a:solidFill>
                  <a:srgbClr val="A0CEC5"/>
                </a:solidFill>
                <a:latin typeface="Calibri"/>
              </a:rPr>
              <a:t>Across free play, snack, and book reading</a:t>
            </a:r>
          </a:p>
        </p:txBody>
      </p:sp>
      <p:sp>
        <p:nvSpPr>
          <p:cNvPr id="8" name="TextBox 7"/>
          <p:cNvSpPr txBox="1"/>
          <p:nvPr/>
        </p:nvSpPr>
        <p:spPr>
          <a:xfrm>
            <a:off x="7152465" y="4572000"/>
            <a:ext cx="3417376" cy="369332"/>
          </a:xfrm>
          <a:prstGeom prst="rect">
            <a:avLst/>
          </a:prstGeom>
          <a:noFill/>
        </p:spPr>
        <p:txBody>
          <a:bodyPr wrap="square">
            <a:spAutoFit/>
          </a:bodyPr>
          <a:lstStyle/>
          <a:p>
            <a:pPr algn="l"/>
            <a:r>
              <a:rPr lang="en-GB" sz="1800" b="0" i="0" noProof="1">
                <a:solidFill>
                  <a:srgbClr val="A0CEC5"/>
                </a:solidFill>
                <a:latin typeface="Calibri"/>
              </a:rPr>
              <a:t>In both lab and home settings</a:t>
            </a:r>
          </a:p>
        </p:txBody>
      </p:sp>
      <p:pic>
        <p:nvPicPr>
          <p:cNvPr id="2052" name="Picture 4" descr="Kids talking to parents Images - Free Download on Freepik">
            <a:extLst>
              <a:ext uri="{FF2B5EF4-FFF2-40B4-BE49-F238E27FC236}">
                <a16:creationId xmlns:a16="http://schemas.microsoft.com/office/drawing/2014/main" id="{38E3DF99-E67E-10F6-6665-415A6F88D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789" y="1690221"/>
            <a:ext cx="4989709" cy="3324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315200" cy="640080"/>
          </a:xfrm>
          <a:prstGeom prst="rect">
            <a:avLst/>
          </a:prstGeom>
          <a:noFill/>
        </p:spPr>
        <p:txBody>
          <a:bodyPr wrap="square">
            <a:spAutoFit/>
          </a:bodyPr>
          <a:lstStyle/>
          <a:p>
            <a:pPr algn="l"/>
            <a:r>
              <a:rPr lang="en-GB" sz="3600" b="1" i="0" noProof="1">
                <a:solidFill>
                  <a:srgbClr val="2D3A4A"/>
                </a:solidFill>
                <a:latin typeface="Georgia"/>
              </a:rPr>
              <a:t>Corpus &amp; Method</a:t>
            </a:r>
          </a:p>
        </p:txBody>
      </p:sp>
      <p:sp>
        <p:nvSpPr>
          <p:cNvPr id="3" name="TextBox 2"/>
          <p:cNvSpPr txBox="1"/>
          <p:nvPr/>
        </p:nvSpPr>
        <p:spPr>
          <a:xfrm>
            <a:off x="731520" y="1097280"/>
            <a:ext cx="2286000" cy="731520"/>
          </a:xfrm>
          <a:prstGeom prst="rect">
            <a:avLst/>
          </a:prstGeom>
          <a:noFill/>
        </p:spPr>
        <p:txBody>
          <a:bodyPr wrap="square">
            <a:spAutoFit/>
          </a:bodyPr>
          <a:lstStyle/>
          <a:p>
            <a:pPr algn="ctr"/>
            <a:r>
              <a:rPr lang="en-GB" sz="4800" b="1" i="0" noProof="1">
                <a:solidFill>
                  <a:srgbClr val="0D9488"/>
                </a:solidFill>
                <a:latin typeface="Georgia"/>
              </a:rPr>
              <a:t>12</a:t>
            </a:r>
          </a:p>
        </p:txBody>
      </p:sp>
      <p:sp>
        <p:nvSpPr>
          <p:cNvPr id="4" name="TextBox 3"/>
          <p:cNvSpPr txBox="1"/>
          <p:nvPr/>
        </p:nvSpPr>
        <p:spPr>
          <a:xfrm>
            <a:off x="731520" y="1783080"/>
            <a:ext cx="2286000" cy="457200"/>
          </a:xfrm>
          <a:prstGeom prst="rect">
            <a:avLst/>
          </a:prstGeom>
          <a:noFill/>
        </p:spPr>
        <p:txBody>
          <a:bodyPr wrap="square">
            <a:spAutoFit/>
          </a:bodyPr>
          <a:lstStyle/>
          <a:p>
            <a:pPr algn="ctr"/>
            <a:r>
              <a:rPr lang="en-GB" sz="1400" b="0" i="0" noProof="1">
                <a:solidFill>
                  <a:srgbClr val="64748B"/>
                </a:solidFill>
                <a:latin typeface="Calibri"/>
              </a:rPr>
              <a:t>Caregiver-Toddler
Dyads</a:t>
            </a:r>
          </a:p>
        </p:txBody>
      </p:sp>
      <p:sp>
        <p:nvSpPr>
          <p:cNvPr id="5" name="TextBox 4"/>
          <p:cNvSpPr txBox="1"/>
          <p:nvPr/>
        </p:nvSpPr>
        <p:spPr>
          <a:xfrm>
            <a:off x="3474720" y="1097280"/>
            <a:ext cx="2286000" cy="731520"/>
          </a:xfrm>
          <a:prstGeom prst="rect">
            <a:avLst/>
          </a:prstGeom>
          <a:noFill/>
        </p:spPr>
        <p:txBody>
          <a:bodyPr wrap="square">
            <a:spAutoFit/>
          </a:bodyPr>
          <a:lstStyle/>
          <a:p>
            <a:pPr algn="ctr"/>
            <a:r>
              <a:rPr lang="en-GB" sz="4800" b="1" i="0" noProof="1">
                <a:solidFill>
                  <a:srgbClr val="0D9488"/>
                </a:solidFill>
                <a:latin typeface="Georgia"/>
              </a:rPr>
              <a:t>3</a:t>
            </a:r>
          </a:p>
        </p:txBody>
      </p:sp>
      <p:sp>
        <p:nvSpPr>
          <p:cNvPr id="6" name="TextBox 5"/>
          <p:cNvSpPr txBox="1"/>
          <p:nvPr/>
        </p:nvSpPr>
        <p:spPr>
          <a:xfrm>
            <a:off x="3474720" y="1783080"/>
            <a:ext cx="2286000" cy="457200"/>
          </a:xfrm>
          <a:prstGeom prst="rect">
            <a:avLst/>
          </a:prstGeom>
          <a:noFill/>
        </p:spPr>
        <p:txBody>
          <a:bodyPr wrap="square">
            <a:spAutoFit/>
          </a:bodyPr>
          <a:lstStyle/>
          <a:p>
            <a:pPr algn="ctr"/>
            <a:r>
              <a:rPr lang="en-GB" sz="1400" b="0" i="0" noProof="1">
                <a:solidFill>
                  <a:srgbClr val="64748B"/>
                </a:solidFill>
                <a:latin typeface="Calibri"/>
              </a:rPr>
              <a:t>Activity
Contexts</a:t>
            </a:r>
          </a:p>
        </p:txBody>
      </p:sp>
      <p:sp>
        <p:nvSpPr>
          <p:cNvPr id="7" name="TextBox 6"/>
          <p:cNvSpPr txBox="1"/>
          <p:nvPr/>
        </p:nvSpPr>
        <p:spPr>
          <a:xfrm>
            <a:off x="6217920" y="1097280"/>
            <a:ext cx="2286000" cy="731520"/>
          </a:xfrm>
          <a:prstGeom prst="rect">
            <a:avLst/>
          </a:prstGeom>
          <a:noFill/>
        </p:spPr>
        <p:txBody>
          <a:bodyPr wrap="square">
            <a:spAutoFit/>
          </a:bodyPr>
          <a:lstStyle/>
          <a:p>
            <a:pPr algn="ctr"/>
            <a:r>
              <a:rPr lang="en-GB" sz="4800" b="1" i="0" noProof="1">
                <a:solidFill>
                  <a:srgbClr val="0D9488"/>
                </a:solidFill>
                <a:latin typeface="Georgia"/>
              </a:rPr>
              <a:t>1,832</a:t>
            </a:r>
          </a:p>
        </p:txBody>
      </p:sp>
      <p:sp>
        <p:nvSpPr>
          <p:cNvPr id="8" name="TextBox 7"/>
          <p:cNvSpPr txBox="1"/>
          <p:nvPr/>
        </p:nvSpPr>
        <p:spPr>
          <a:xfrm>
            <a:off x="6217920" y="1783080"/>
            <a:ext cx="2286000" cy="457200"/>
          </a:xfrm>
          <a:prstGeom prst="rect">
            <a:avLst/>
          </a:prstGeom>
          <a:noFill/>
        </p:spPr>
        <p:txBody>
          <a:bodyPr wrap="square">
            <a:spAutoFit/>
          </a:bodyPr>
          <a:lstStyle/>
          <a:p>
            <a:pPr algn="ctr"/>
            <a:r>
              <a:rPr lang="en-GB" sz="1400" b="0" i="0" noProof="1">
                <a:solidFill>
                  <a:srgbClr val="64748B"/>
                </a:solidFill>
                <a:latin typeface="Calibri"/>
              </a:rPr>
              <a:t>Total
Questions</a:t>
            </a:r>
          </a:p>
        </p:txBody>
      </p:sp>
      <p:sp>
        <p:nvSpPr>
          <p:cNvPr id="9" name="TextBox 8"/>
          <p:cNvSpPr txBox="1"/>
          <p:nvPr/>
        </p:nvSpPr>
        <p:spPr>
          <a:xfrm>
            <a:off x="731520" y="2560320"/>
            <a:ext cx="8229600" cy="365760"/>
          </a:xfrm>
          <a:prstGeom prst="rect">
            <a:avLst/>
          </a:prstGeom>
          <a:noFill/>
        </p:spPr>
        <p:txBody>
          <a:bodyPr wrap="square">
            <a:spAutoFit/>
          </a:bodyPr>
          <a:lstStyle/>
          <a:p>
            <a:pPr algn="l"/>
            <a:r>
              <a:rPr lang="en-GB" sz="1500" b="0" i="0" noProof="1">
                <a:solidFill>
                  <a:srgbClr val="64748B"/>
                </a:solidFill>
                <a:latin typeface="Calibri"/>
              </a:rPr>
              <a:t>Bates (1988) Lab Corpus  •  CHILDES Repository  •  Children aged 28 months</a:t>
            </a:r>
          </a:p>
        </p:txBody>
      </p:sp>
      <p:sp>
        <p:nvSpPr>
          <p:cNvPr id="12" name="Rectangle 11"/>
          <p:cNvSpPr/>
          <p:nvPr/>
        </p:nvSpPr>
        <p:spPr>
          <a:xfrm>
            <a:off x="6583680" y="3200400"/>
            <a:ext cx="2560320" cy="2286000"/>
          </a:xfrm>
          <a:prstGeom prst="rect">
            <a:avLst/>
          </a:prstGeom>
          <a:solidFill>
            <a:srgbClr val="FDEDE8"/>
          </a:solidFill>
          <a:ln w="25400">
            <a:solidFill>
              <a:srgbClr val="B0C4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GB" sz="1200" i="1" noProof="1">
                <a:solidFill>
                  <a:srgbClr val="64748B"/>
                </a:solidFill>
                <a:latin typeface="Calibri"/>
              </a:rPr>
              <a:t>✂ ADD PHOTO:
Book Reading
(caregiver + child + book)</a:t>
            </a:r>
          </a:p>
        </p:txBody>
      </p:sp>
      <p:sp>
        <p:nvSpPr>
          <p:cNvPr id="13" name="Rectangle 12"/>
          <p:cNvSpPr/>
          <p:nvPr/>
        </p:nvSpPr>
        <p:spPr>
          <a:xfrm>
            <a:off x="9601200" y="1097280"/>
            <a:ext cx="2286000" cy="4572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4" name="TextBox 13"/>
          <p:cNvSpPr txBox="1"/>
          <p:nvPr/>
        </p:nvSpPr>
        <p:spPr>
          <a:xfrm>
            <a:off x="9784080" y="1371600"/>
            <a:ext cx="1920240" cy="914400"/>
          </a:xfrm>
          <a:prstGeom prst="rect">
            <a:avLst/>
          </a:prstGeom>
          <a:noFill/>
        </p:spPr>
        <p:txBody>
          <a:bodyPr wrap="square">
            <a:spAutoFit/>
          </a:bodyPr>
          <a:lstStyle/>
          <a:p>
            <a:pPr algn="ctr"/>
            <a:r>
              <a:rPr lang="en-GB" sz="1400" b="1" i="0" noProof="1">
                <a:solidFill>
                  <a:srgbClr val="0D9488"/>
                </a:solidFill>
                <a:latin typeface="Calibri"/>
              </a:rPr>
              <a:t>Also
compared
to:</a:t>
            </a:r>
          </a:p>
        </p:txBody>
      </p:sp>
      <p:sp>
        <p:nvSpPr>
          <p:cNvPr id="15" name="TextBox 14"/>
          <p:cNvSpPr txBox="1"/>
          <p:nvPr/>
        </p:nvSpPr>
        <p:spPr>
          <a:xfrm>
            <a:off x="9784080" y="2286000"/>
            <a:ext cx="1920240" cy="1892826"/>
          </a:xfrm>
          <a:prstGeom prst="rect">
            <a:avLst/>
          </a:prstGeom>
          <a:noFill/>
        </p:spPr>
        <p:txBody>
          <a:bodyPr wrap="square">
            <a:spAutoFit/>
          </a:bodyPr>
          <a:lstStyle/>
          <a:p>
            <a:pPr algn="ctr"/>
            <a:r>
              <a:rPr lang="en-GB" sz="1300" b="0" i="0" noProof="1">
                <a:solidFill>
                  <a:srgbClr val="2D3A4A"/>
                </a:solidFill>
                <a:latin typeface="Calibri"/>
              </a:rPr>
              <a:t>StoopsMontag Corpus on CHILDES (2024)
20 hrs
home-based
recordings
12 families
age 24–36 mo</a:t>
            </a:r>
          </a:p>
        </p:txBody>
      </p:sp>
      <p:sp>
        <p:nvSpPr>
          <p:cNvPr id="16" name="TextBox 15"/>
          <p:cNvSpPr txBox="1"/>
          <p:nvPr/>
        </p:nvSpPr>
        <p:spPr>
          <a:xfrm>
            <a:off x="731520" y="5577840"/>
            <a:ext cx="2560320" cy="274320"/>
          </a:xfrm>
          <a:prstGeom prst="rect">
            <a:avLst/>
          </a:prstGeom>
          <a:noFill/>
        </p:spPr>
        <p:txBody>
          <a:bodyPr wrap="square">
            <a:spAutoFit/>
          </a:bodyPr>
          <a:lstStyle/>
          <a:p>
            <a:pPr algn="ctr"/>
            <a:r>
              <a:rPr lang="en-GB" sz="1400" b="1" i="0" noProof="1">
                <a:solidFill>
                  <a:srgbClr val="84B59F"/>
                </a:solidFill>
                <a:latin typeface="Calibri"/>
              </a:rPr>
              <a:t>Free Play</a:t>
            </a:r>
          </a:p>
        </p:txBody>
      </p:sp>
      <p:sp>
        <p:nvSpPr>
          <p:cNvPr id="17" name="TextBox 16"/>
          <p:cNvSpPr txBox="1"/>
          <p:nvPr/>
        </p:nvSpPr>
        <p:spPr>
          <a:xfrm>
            <a:off x="3657600" y="5577840"/>
            <a:ext cx="2560320" cy="274320"/>
          </a:xfrm>
          <a:prstGeom prst="rect">
            <a:avLst/>
          </a:prstGeom>
          <a:noFill/>
        </p:spPr>
        <p:txBody>
          <a:bodyPr wrap="square">
            <a:spAutoFit/>
          </a:bodyPr>
          <a:lstStyle/>
          <a:p>
            <a:pPr algn="ctr"/>
            <a:r>
              <a:rPr lang="en-GB" sz="1400" b="1" i="0" noProof="1">
                <a:solidFill>
                  <a:srgbClr val="F9C74F"/>
                </a:solidFill>
                <a:latin typeface="Calibri"/>
              </a:rPr>
              <a:t>Snack</a:t>
            </a:r>
          </a:p>
        </p:txBody>
      </p:sp>
      <p:sp>
        <p:nvSpPr>
          <p:cNvPr id="18" name="TextBox 17"/>
          <p:cNvSpPr txBox="1"/>
          <p:nvPr/>
        </p:nvSpPr>
        <p:spPr>
          <a:xfrm>
            <a:off x="6819653" y="5577840"/>
            <a:ext cx="2560320" cy="274320"/>
          </a:xfrm>
          <a:prstGeom prst="rect">
            <a:avLst/>
          </a:prstGeom>
          <a:noFill/>
        </p:spPr>
        <p:txBody>
          <a:bodyPr wrap="square">
            <a:spAutoFit/>
          </a:bodyPr>
          <a:lstStyle/>
          <a:p>
            <a:pPr algn="ctr"/>
            <a:r>
              <a:rPr lang="en-GB" sz="1400" b="1" i="0" noProof="1">
                <a:solidFill>
                  <a:srgbClr val="F96167"/>
                </a:solidFill>
                <a:latin typeface="Calibri"/>
              </a:rPr>
              <a:t>Book Reading</a:t>
            </a:r>
          </a:p>
        </p:txBody>
      </p:sp>
      <p:pic>
        <p:nvPicPr>
          <p:cNvPr id="1026" name="Picture 2" descr="Toddler talking &amp; communication | Raising Children Network">
            <a:extLst>
              <a:ext uri="{FF2B5EF4-FFF2-40B4-BE49-F238E27FC236}">
                <a16:creationId xmlns:a16="http://schemas.microsoft.com/office/drawing/2014/main" id="{83B580E1-70B4-E81A-9E6F-22EDCBDE2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0440" y="3166455"/>
            <a:ext cx="292608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16 Tips for Talking with Toddlers - Brookes Blog">
            <a:extLst>
              <a:ext uri="{FF2B5EF4-FFF2-40B4-BE49-F238E27FC236}">
                <a16:creationId xmlns:a16="http://schemas.microsoft.com/office/drawing/2014/main" id="{891D52D2-E227-19CE-82EF-0B24E34643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 y="3200400"/>
            <a:ext cx="2998258"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to Teach Your Toddler to Talk: Tips and Tricks">
            <a:extLst>
              <a:ext uri="{FF2B5EF4-FFF2-40B4-BE49-F238E27FC236}">
                <a16:creationId xmlns:a16="http://schemas.microsoft.com/office/drawing/2014/main" id="{B3093F67-C6E6-4043-DBA7-3241BEA27C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3391" y="3148540"/>
            <a:ext cx="3026369" cy="23218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315200" cy="640080"/>
          </a:xfrm>
          <a:prstGeom prst="rect">
            <a:avLst/>
          </a:prstGeom>
          <a:noFill/>
        </p:spPr>
        <p:txBody>
          <a:bodyPr wrap="square">
            <a:spAutoFit/>
          </a:bodyPr>
          <a:lstStyle/>
          <a:p>
            <a:pPr algn="l"/>
            <a:r>
              <a:rPr lang="en-GB" sz="3600" b="1" i="0" noProof="1">
                <a:solidFill>
                  <a:srgbClr val="2D3A4A"/>
                </a:solidFill>
                <a:latin typeface="Georgia"/>
              </a:rPr>
              <a:t>Question Types</a:t>
            </a:r>
          </a:p>
        </p:txBody>
      </p:sp>
      <p:sp>
        <p:nvSpPr>
          <p:cNvPr id="3" name="TextBox 2"/>
          <p:cNvSpPr txBox="1"/>
          <p:nvPr/>
        </p:nvSpPr>
        <p:spPr>
          <a:xfrm>
            <a:off x="731520" y="1005840"/>
            <a:ext cx="7315200" cy="365760"/>
          </a:xfrm>
          <a:prstGeom prst="rect">
            <a:avLst/>
          </a:prstGeom>
          <a:noFill/>
        </p:spPr>
        <p:txBody>
          <a:bodyPr wrap="square">
            <a:spAutoFit/>
          </a:bodyPr>
          <a:lstStyle/>
          <a:p>
            <a:pPr algn="l"/>
            <a:r>
              <a:rPr lang="en-GB" sz="1800" b="0" i="0" noProof="1">
                <a:solidFill>
                  <a:srgbClr val="2D3A4A"/>
                </a:solidFill>
                <a:latin typeface="Calibri"/>
              </a:rPr>
              <a:t>We coded every question by type:</a:t>
            </a:r>
          </a:p>
        </p:txBody>
      </p:sp>
      <p:graphicFrame>
        <p:nvGraphicFramePr>
          <p:cNvPr id="4" name="Table 3"/>
          <p:cNvGraphicFramePr>
            <a:graphicFrameLocks noGrp="1"/>
          </p:cNvGraphicFramePr>
          <p:nvPr>
            <p:extLst>
              <p:ext uri="{D42A27DB-BD31-4B8C-83A1-F6EECF244321}">
                <p14:modId xmlns:p14="http://schemas.microsoft.com/office/powerpoint/2010/main" val="3436601408"/>
              </p:ext>
            </p:extLst>
          </p:nvPr>
        </p:nvGraphicFramePr>
        <p:xfrm>
          <a:off x="277792" y="1554480"/>
          <a:ext cx="11632557" cy="3862240"/>
        </p:xfrm>
        <a:graphic>
          <a:graphicData uri="http://schemas.openxmlformats.org/drawingml/2006/table">
            <a:tbl>
              <a:tblPr firstRow="1" bandRow="1">
                <a:tableStyleId>{5C22544A-7EE6-4342-B048-85BDC9FD1C3A}</a:tableStyleId>
              </a:tblPr>
              <a:tblGrid>
                <a:gridCol w="1517290">
                  <a:extLst>
                    <a:ext uri="{9D8B030D-6E8A-4147-A177-3AD203B41FA5}">
                      <a16:colId xmlns:a16="http://schemas.microsoft.com/office/drawing/2014/main" val="20000"/>
                    </a:ext>
                  </a:extLst>
                </a:gridCol>
                <a:gridCol w="809222">
                  <a:extLst>
                    <a:ext uri="{9D8B030D-6E8A-4147-A177-3AD203B41FA5}">
                      <a16:colId xmlns:a16="http://schemas.microsoft.com/office/drawing/2014/main" val="20001"/>
                    </a:ext>
                  </a:extLst>
                </a:gridCol>
                <a:gridCol w="5254906">
                  <a:extLst>
                    <a:ext uri="{9D8B030D-6E8A-4147-A177-3AD203B41FA5}">
                      <a16:colId xmlns:a16="http://schemas.microsoft.com/office/drawing/2014/main" val="20002"/>
                    </a:ext>
                  </a:extLst>
                </a:gridCol>
                <a:gridCol w="4051139">
                  <a:extLst>
                    <a:ext uri="{9D8B030D-6E8A-4147-A177-3AD203B41FA5}">
                      <a16:colId xmlns:a16="http://schemas.microsoft.com/office/drawing/2014/main" val="20003"/>
                    </a:ext>
                  </a:extLst>
                </a:gridCol>
              </a:tblGrid>
              <a:tr h="577531">
                <a:tc>
                  <a:txBody>
                    <a:bodyPr/>
                    <a:lstStyle/>
                    <a:p>
                      <a:pPr>
                        <a:defRPr sz="1500" b="1">
                          <a:solidFill>
                            <a:srgbClr val="FFFFFF"/>
                          </a:solidFill>
                          <a:latin typeface="Calibri"/>
                        </a:defRPr>
                      </a:pPr>
                      <a:r>
                        <a:rPr lang="en-GB" noProof="1"/>
                        <a:t>Type</a:t>
                      </a:r>
                    </a:p>
                  </a:txBody>
                  <a:tcPr>
                    <a:solidFill>
                      <a:srgbClr val="0D9488"/>
                    </a:solidFill>
                  </a:tcPr>
                </a:tc>
                <a:tc>
                  <a:txBody>
                    <a:bodyPr/>
                    <a:lstStyle/>
                    <a:p>
                      <a:pPr>
                        <a:defRPr sz="1500" b="1">
                          <a:solidFill>
                            <a:srgbClr val="FFFFFF"/>
                          </a:solidFill>
                          <a:latin typeface="Calibri"/>
                        </a:defRPr>
                      </a:pPr>
                      <a:r>
                        <a:rPr lang="en-GB" noProof="1"/>
                        <a:t>Code</a:t>
                      </a:r>
                    </a:p>
                  </a:txBody>
                  <a:tcPr>
                    <a:solidFill>
                      <a:srgbClr val="0D9488"/>
                    </a:solidFill>
                  </a:tcPr>
                </a:tc>
                <a:tc>
                  <a:txBody>
                    <a:bodyPr/>
                    <a:lstStyle/>
                    <a:p>
                      <a:pPr>
                        <a:defRPr sz="1500" b="1">
                          <a:solidFill>
                            <a:srgbClr val="FFFFFF"/>
                          </a:solidFill>
                          <a:latin typeface="Calibri"/>
                        </a:defRPr>
                      </a:pPr>
                      <a:r>
                        <a:rPr lang="en-GB" noProof="1"/>
                        <a:t>Example</a:t>
                      </a:r>
                    </a:p>
                  </a:txBody>
                  <a:tcPr>
                    <a:solidFill>
                      <a:srgbClr val="0D9488"/>
                    </a:solidFill>
                  </a:tcPr>
                </a:tc>
                <a:tc>
                  <a:txBody>
                    <a:bodyPr/>
                    <a:lstStyle/>
                    <a:p>
                      <a:pPr>
                        <a:defRPr sz="1500" b="1">
                          <a:solidFill>
                            <a:srgbClr val="FFFFFF"/>
                          </a:solidFill>
                          <a:latin typeface="Calibri"/>
                        </a:defRPr>
                      </a:pPr>
                      <a:r>
                        <a:rPr lang="en-GB" noProof="1"/>
                        <a:t>Expected Response</a:t>
                      </a:r>
                    </a:p>
                  </a:txBody>
                  <a:tcPr>
                    <a:solidFill>
                      <a:srgbClr val="0D9488"/>
                    </a:solidFill>
                  </a:tcPr>
                </a:tc>
                <a:extLst>
                  <a:ext uri="{0D108BD9-81ED-4DB2-BD59-A6C34878D82A}">
                    <a16:rowId xmlns:a16="http://schemas.microsoft.com/office/drawing/2014/main" val="10000"/>
                  </a:ext>
                </a:extLst>
              </a:tr>
              <a:tr h="974585">
                <a:tc>
                  <a:txBody>
                    <a:bodyPr/>
                    <a:lstStyle/>
                    <a:p>
                      <a:pPr>
                        <a:defRPr sz="1500" b="1">
                          <a:solidFill>
                            <a:srgbClr val="0D9488"/>
                          </a:solidFill>
                          <a:latin typeface="Calibri"/>
                        </a:defRPr>
                      </a:pPr>
                      <a:r>
                        <a:rPr lang="en-GB" noProof="1"/>
                        <a:t>WH</a:t>
                      </a:r>
                    </a:p>
                  </a:txBody>
                  <a:tcPr>
                    <a:solidFill>
                      <a:srgbClr val="F0FDFA"/>
                    </a:solidFill>
                  </a:tcPr>
                </a:tc>
                <a:tc>
                  <a:txBody>
                    <a:bodyPr/>
                    <a:lstStyle/>
                    <a:p>
                      <a:pPr>
                        <a:defRPr sz="1500" b="1">
                          <a:solidFill>
                            <a:srgbClr val="0D9488"/>
                          </a:solidFill>
                          <a:latin typeface="Calibri"/>
                        </a:defRPr>
                      </a:pPr>
                      <a:r>
                        <a:rPr lang="en-GB" noProof="1"/>
                        <a:t>1</a:t>
                      </a:r>
                    </a:p>
                  </a:txBody>
                  <a:tcPr>
                    <a:solidFill>
                      <a:srgbClr val="F0FDFA"/>
                    </a:solidFill>
                  </a:tcPr>
                </a:tc>
                <a:tc>
                  <a:txBody>
                    <a:bodyPr/>
                    <a:lstStyle/>
                    <a:p>
                      <a:pPr>
                        <a:defRPr sz="1500" b="1">
                          <a:solidFill>
                            <a:srgbClr val="0D9488"/>
                          </a:solidFill>
                          <a:latin typeface="Calibri"/>
                        </a:defRPr>
                      </a:pPr>
                      <a:r>
                        <a:rPr lang="en-GB" sz="2400" noProof="1"/>
                        <a:t>"What's that?" "Where did it go?"</a:t>
                      </a:r>
                    </a:p>
                  </a:txBody>
                  <a:tcPr>
                    <a:solidFill>
                      <a:srgbClr val="F0FDFA"/>
                    </a:solidFill>
                  </a:tcPr>
                </a:tc>
                <a:tc>
                  <a:txBody>
                    <a:bodyPr/>
                    <a:lstStyle/>
                    <a:p>
                      <a:pPr>
                        <a:defRPr sz="1500" b="1">
                          <a:solidFill>
                            <a:srgbClr val="0D9488"/>
                          </a:solidFill>
                          <a:latin typeface="Calibri"/>
                        </a:defRPr>
                      </a:pPr>
                      <a:r>
                        <a:rPr lang="en-GB" noProof="1"/>
                        <a:t>Open-ended → longer response</a:t>
                      </a:r>
                    </a:p>
                  </a:txBody>
                  <a:tcPr>
                    <a:solidFill>
                      <a:srgbClr val="F0FDFA"/>
                    </a:solidFill>
                  </a:tcPr>
                </a:tc>
                <a:extLst>
                  <a:ext uri="{0D108BD9-81ED-4DB2-BD59-A6C34878D82A}">
                    <a16:rowId xmlns:a16="http://schemas.microsoft.com/office/drawing/2014/main" val="10001"/>
                  </a:ext>
                </a:extLst>
              </a:tr>
              <a:tr h="577531">
                <a:tc>
                  <a:txBody>
                    <a:bodyPr/>
                    <a:lstStyle/>
                    <a:p>
                      <a:pPr>
                        <a:defRPr sz="1500">
                          <a:solidFill>
                            <a:srgbClr val="2D3A4A"/>
                          </a:solidFill>
                          <a:latin typeface="Calibri"/>
                        </a:defRPr>
                      </a:pPr>
                      <a:r>
                        <a:rPr lang="en-GB" noProof="1"/>
                        <a:t>Yes/No</a:t>
                      </a:r>
                    </a:p>
                  </a:txBody>
                  <a:tcPr>
                    <a:solidFill>
                      <a:srgbClr val="FFFFFF"/>
                    </a:solidFill>
                  </a:tcPr>
                </a:tc>
                <a:tc>
                  <a:txBody>
                    <a:bodyPr/>
                    <a:lstStyle/>
                    <a:p>
                      <a:pPr>
                        <a:defRPr sz="1500">
                          <a:solidFill>
                            <a:srgbClr val="2D3A4A"/>
                          </a:solidFill>
                          <a:latin typeface="Calibri"/>
                        </a:defRPr>
                      </a:pPr>
                      <a:r>
                        <a:rPr lang="en-GB" noProof="1"/>
                        <a:t>2</a:t>
                      </a:r>
                    </a:p>
                  </a:txBody>
                  <a:tcPr>
                    <a:solidFill>
                      <a:srgbClr val="FFFFFF"/>
                    </a:solidFill>
                  </a:tcPr>
                </a:tc>
                <a:tc>
                  <a:txBody>
                    <a:bodyPr/>
                    <a:lstStyle/>
                    <a:p>
                      <a:pPr>
                        <a:defRPr sz="1500">
                          <a:solidFill>
                            <a:srgbClr val="2D3A4A"/>
                          </a:solidFill>
                          <a:latin typeface="Calibri"/>
                        </a:defRPr>
                      </a:pPr>
                      <a:r>
                        <a:rPr lang="en-GB" sz="2400" noProof="1"/>
                        <a:t>"Do you want more?" "Is that a dog?"</a:t>
                      </a:r>
                    </a:p>
                  </a:txBody>
                  <a:tcPr>
                    <a:solidFill>
                      <a:srgbClr val="FFFFFF"/>
                    </a:solidFill>
                  </a:tcPr>
                </a:tc>
                <a:tc>
                  <a:txBody>
                    <a:bodyPr/>
                    <a:lstStyle/>
                    <a:p>
                      <a:pPr>
                        <a:defRPr sz="1500">
                          <a:solidFill>
                            <a:srgbClr val="2D3A4A"/>
                          </a:solidFill>
                          <a:latin typeface="Calibri"/>
                        </a:defRPr>
                      </a:pPr>
                      <a:r>
                        <a:rPr lang="en-GB" noProof="1"/>
                        <a:t>Closed → yes/no</a:t>
                      </a:r>
                    </a:p>
                  </a:txBody>
                  <a:tcPr>
                    <a:solidFill>
                      <a:srgbClr val="FFFFFF"/>
                    </a:solidFill>
                  </a:tcPr>
                </a:tc>
                <a:extLst>
                  <a:ext uri="{0D108BD9-81ED-4DB2-BD59-A6C34878D82A}">
                    <a16:rowId xmlns:a16="http://schemas.microsoft.com/office/drawing/2014/main" val="10002"/>
                  </a:ext>
                </a:extLst>
              </a:tr>
              <a:tr h="577531">
                <a:tc>
                  <a:txBody>
                    <a:bodyPr/>
                    <a:lstStyle/>
                    <a:p>
                      <a:pPr>
                        <a:defRPr sz="1500">
                          <a:solidFill>
                            <a:srgbClr val="2D3A4A"/>
                          </a:solidFill>
                          <a:latin typeface="Calibri"/>
                        </a:defRPr>
                      </a:pPr>
                      <a:r>
                        <a:rPr lang="en-GB" noProof="1"/>
                        <a:t>Choice</a:t>
                      </a:r>
                    </a:p>
                  </a:txBody>
                  <a:tcPr>
                    <a:solidFill>
                      <a:srgbClr val="FFFFFF"/>
                    </a:solidFill>
                  </a:tcPr>
                </a:tc>
                <a:tc>
                  <a:txBody>
                    <a:bodyPr/>
                    <a:lstStyle/>
                    <a:p>
                      <a:pPr>
                        <a:defRPr sz="1500">
                          <a:solidFill>
                            <a:srgbClr val="2D3A4A"/>
                          </a:solidFill>
                          <a:latin typeface="Calibri"/>
                        </a:defRPr>
                      </a:pPr>
                      <a:r>
                        <a:rPr lang="en-GB" noProof="1"/>
                        <a:t>3</a:t>
                      </a:r>
                    </a:p>
                  </a:txBody>
                  <a:tcPr>
                    <a:solidFill>
                      <a:srgbClr val="FFFFFF"/>
                    </a:solidFill>
                  </a:tcPr>
                </a:tc>
                <a:tc>
                  <a:txBody>
                    <a:bodyPr/>
                    <a:lstStyle/>
                    <a:p>
                      <a:pPr>
                        <a:defRPr sz="1500">
                          <a:solidFill>
                            <a:srgbClr val="2D3A4A"/>
                          </a:solidFill>
                          <a:latin typeface="Calibri"/>
                        </a:defRPr>
                      </a:pPr>
                      <a:r>
                        <a:rPr lang="en-GB" sz="2400" noProof="1"/>
                        <a:t>"Do you want milk or juice?"</a:t>
                      </a:r>
                    </a:p>
                  </a:txBody>
                  <a:tcPr>
                    <a:solidFill>
                      <a:srgbClr val="FFFFFF"/>
                    </a:solidFill>
                  </a:tcPr>
                </a:tc>
                <a:tc>
                  <a:txBody>
                    <a:bodyPr/>
                    <a:lstStyle/>
                    <a:p>
                      <a:pPr>
                        <a:defRPr sz="1500">
                          <a:solidFill>
                            <a:srgbClr val="2D3A4A"/>
                          </a:solidFill>
                          <a:latin typeface="Calibri"/>
                        </a:defRPr>
                      </a:pPr>
                      <a:r>
                        <a:rPr lang="en-GB" noProof="1"/>
                        <a:t>Select one option</a:t>
                      </a:r>
                    </a:p>
                  </a:txBody>
                  <a:tcPr>
                    <a:solidFill>
                      <a:srgbClr val="FFFFFF"/>
                    </a:solidFill>
                  </a:tcPr>
                </a:tc>
                <a:extLst>
                  <a:ext uri="{0D108BD9-81ED-4DB2-BD59-A6C34878D82A}">
                    <a16:rowId xmlns:a16="http://schemas.microsoft.com/office/drawing/2014/main" val="10003"/>
                  </a:ext>
                </a:extLst>
              </a:tr>
              <a:tr h="577531">
                <a:tc>
                  <a:txBody>
                    <a:bodyPr/>
                    <a:lstStyle/>
                    <a:p>
                      <a:pPr>
                        <a:defRPr sz="1500">
                          <a:solidFill>
                            <a:srgbClr val="2D3A4A"/>
                          </a:solidFill>
                          <a:latin typeface="Calibri"/>
                        </a:defRPr>
                      </a:pPr>
                      <a:r>
                        <a:rPr lang="en-GB" noProof="1"/>
                        <a:t>Tag</a:t>
                      </a:r>
                    </a:p>
                  </a:txBody>
                  <a:tcPr>
                    <a:solidFill>
                      <a:srgbClr val="FFFFFF"/>
                    </a:solidFill>
                  </a:tcPr>
                </a:tc>
                <a:tc>
                  <a:txBody>
                    <a:bodyPr/>
                    <a:lstStyle/>
                    <a:p>
                      <a:pPr>
                        <a:defRPr sz="1500">
                          <a:solidFill>
                            <a:srgbClr val="2D3A4A"/>
                          </a:solidFill>
                          <a:latin typeface="Calibri"/>
                        </a:defRPr>
                      </a:pPr>
                      <a:r>
                        <a:rPr lang="en-GB" noProof="1"/>
                        <a:t>4</a:t>
                      </a:r>
                    </a:p>
                  </a:txBody>
                  <a:tcPr>
                    <a:solidFill>
                      <a:srgbClr val="FFFFFF"/>
                    </a:solidFill>
                  </a:tcPr>
                </a:tc>
                <a:tc>
                  <a:txBody>
                    <a:bodyPr/>
                    <a:lstStyle/>
                    <a:p>
                      <a:pPr>
                        <a:defRPr sz="1500">
                          <a:solidFill>
                            <a:srgbClr val="2D3A4A"/>
                          </a:solidFill>
                          <a:latin typeface="Calibri"/>
                        </a:defRPr>
                      </a:pPr>
                      <a:r>
                        <a:rPr lang="en-GB" sz="2400" noProof="1"/>
                        <a:t>"That's a big one, isn't it?"</a:t>
                      </a:r>
                    </a:p>
                  </a:txBody>
                  <a:tcPr>
                    <a:solidFill>
                      <a:srgbClr val="FFFFFF"/>
                    </a:solidFill>
                  </a:tcPr>
                </a:tc>
                <a:tc>
                  <a:txBody>
                    <a:bodyPr/>
                    <a:lstStyle/>
                    <a:p>
                      <a:pPr>
                        <a:defRPr sz="1500">
                          <a:solidFill>
                            <a:srgbClr val="2D3A4A"/>
                          </a:solidFill>
                          <a:latin typeface="Calibri"/>
                        </a:defRPr>
                      </a:pPr>
                      <a:r>
                        <a:rPr lang="en-GB" noProof="1"/>
                        <a:t>Confirmation</a:t>
                      </a:r>
                    </a:p>
                  </a:txBody>
                  <a:tcPr>
                    <a:solidFill>
                      <a:srgbClr val="FFFFFF"/>
                    </a:solidFill>
                  </a:tcPr>
                </a:tc>
                <a:extLst>
                  <a:ext uri="{0D108BD9-81ED-4DB2-BD59-A6C34878D82A}">
                    <a16:rowId xmlns:a16="http://schemas.microsoft.com/office/drawing/2014/main" val="10004"/>
                  </a:ext>
                </a:extLst>
              </a:tr>
              <a:tr h="577531">
                <a:tc>
                  <a:txBody>
                    <a:bodyPr/>
                    <a:lstStyle/>
                    <a:p>
                      <a:pPr>
                        <a:defRPr sz="1500">
                          <a:solidFill>
                            <a:srgbClr val="2D3A4A"/>
                          </a:solidFill>
                          <a:latin typeface="Calibri"/>
                        </a:defRPr>
                      </a:pPr>
                      <a:r>
                        <a:rPr lang="en-GB" noProof="1"/>
                        <a:t>Interjection</a:t>
                      </a:r>
                    </a:p>
                  </a:txBody>
                  <a:tcPr>
                    <a:solidFill>
                      <a:srgbClr val="FFFFFF"/>
                    </a:solidFill>
                  </a:tcPr>
                </a:tc>
                <a:tc>
                  <a:txBody>
                    <a:bodyPr/>
                    <a:lstStyle/>
                    <a:p>
                      <a:pPr>
                        <a:defRPr sz="1500">
                          <a:solidFill>
                            <a:srgbClr val="2D3A4A"/>
                          </a:solidFill>
                          <a:latin typeface="Calibri"/>
                        </a:defRPr>
                      </a:pPr>
                      <a:r>
                        <a:rPr lang="en-GB" noProof="1"/>
                        <a:t>5</a:t>
                      </a:r>
                    </a:p>
                  </a:txBody>
                  <a:tcPr>
                    <a:solidFill>
                      <a:srgbClr val="FFFFFF"/>
                    </a:solidFill>
                  </a:tcPr>
                </a:tc>
                <a:tc>
                  <a:txBody>
                    <a:bodyPr/>
                    <a:lstStyle/>
                    <a:p>
                      <a:pPr>
                        <a:defRPr sz="1500">
                          <a:solidFill>
                            <a:srgbClr val="2D3A4A"/>
                          </a:solidFill>
                          <a:latin typeface="Calibri"/>
                        </a:defRPr>
                      </a:pPr>
                      <a:r>
                        <a:rPr lang="en-GB" sz="2400" noProof="1"/>
                        <a:t>"Hm?" "Huh?"</a:t>
                      </a:r>
                    </a:p>
                  </a:txBody>
                  <a:tcPr>
                    <a:solidFill>
                      <a:srgbClr val="FFFFFF"/>
                    </a:solidFill>
                  </a:tcPr>
                </a:tc>
                <a:tc>
                  <a:txBody>
                    <a:bodyPr/>
                    <a:lstStyle/>
                    <a:p>
                      <a:pPr>
                        <a:defRPr sz="1500">
                          <a:solidFill>
                            <a:srgbClr val="2D3A4A"/>
                          </a:solidFill>
                          <a:latin typeface="Calibri"/>
                        </a:defRPr>
                      </a:pPr>
                      <a:r>
                        <a:rPr lang="en-GB" noProof="1"/>
                        <a:t>Brief acknowledgment</a:t>
                      </a:r>
                    </a:p>
                  </a:txBody>
                  <a:tcPr>
                    <a:solidFill>
                      <a:srgbClr val="FFFFFF"/>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731520" y="5675531"/>
            <a:ext cx="10515600" cy="109728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6" name="TextBox 5"/>
          <p:cNvSpPr txBox="1"/>
          <p:nvPr/>
        </p:nvSpPr>
        <p:spPr>
          <a:xfrm>
            <a:off x="1158240" y="5867671"/>
            <a:ext cx="9875520" cy="646331"/>
          </a:xfrm>
          <a:prstGeom prst="rect">
            <a:avLst/>
          </a:prstGeom>
          <a:noFill/>
        </p:spPr>
        <p:txBody>
          <a:bodyPr wrap="square">
            <a:spAutoFit/>
          </a:bodyPr>
          <a:lstStyle/>
          <a:p>
            <a:pPr algn="ctr"/>
            <a:r>
              <a:rPr lang="en-GB" sz="1800" b="1" i="0" noProof="1">
                <a:solidFill>
                  <a:srgbClr val="0D9488"/>
                </a:solidFill>
                <a:latin typeface="Calibri"/>
              </a:rPr>
              <a:t>Focus on WH questions: the only open-ended type that demands
a substantive response. The others can be answered with a simple yes, no, or "uh huh."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315200" cy="640080"/>
          </a:xfrm>
          <a:prstGeom prst="rect">
            <a:avLst/>
          </a:prstGeom>
          <a:noFill/>
        </p:spPr>
        <p:txBody>
          <a:bodyPr wrap="square">
            <a:spAutoFit/>
          </a:bodyPr>
          <a:lstStyle/>
          <a:p>
            <a:pPr algn="l"/>
            <a:r>
              <a:rPr lang="en-GB" sz="3600" b="1" i="0" noProof="1">
                <a:solidFill>
                  <a:srgbClr val="2D3A4A"/>
                </a:solidFill>
                <a:latin typeface="Georgia"/>
              </a:rPr>
              <a:t>What the Data Look Like</a:t>
            </a:r>
          </a:p>
        </p:txBody>
      </p:sp>
      <p:pic>
        <p:nvPicPr>
          <p:cNvPr id="3" name="Picture 2" descr="slide3_img2.png"/>
          <p:cNvPicPr>
            <a:picLocks noChangeAspect="1"/>
          </p:cNvPicPr>
          <p:nvPr/>
        </p:nvPicPr>
        <p:blipFill>
          <a:blip r:embed="rId3"/>
          <a:stretch>
            <a:fillRect/>
          </a:stretch>
        </p:blipFill>
        <p:spPr>
          <a:xfrm>
            <a:off x="731520" y="1097280"/>
            <a:ext cx="5029200" cy="4389120"/>
          </a:xfrm>
          <a:prstGeom prst="rect">
            <a:avLst/>
          </a:prstGeom>
        </p:spPr>
      </p:pic>
      <p:sp>
        <p:nvSpPr>
          <p:cNvPr id="4" name="TextBox 3"/>
          <p:cNvSpPr txBox="1"/>
          <p:nvPr/>
        </p:nvSpPr>
        <p:spPr>
          <a:xfrm>
            <a:off x="6400800" y="1371600"/>
            <a:ext cx="5029200" cy="365760"/>
          </a:xfrm>
          <a:prstGeom prst="rect">
            <a:avLst/>
          </a:prstGeom>
          <a:noFill/>
        </p:spPr>
        <p:txBody>
          <a:bodyPr wrap="square">
            <a:spAutoFit/>
          </a:bodyPr>
          <a:lstStyle/>
          <a:p>
            <a:r>
              <a:rPr lang="en-GB" sz="1600" b="1" noProof="1">
                <a:solidFill>
                  <a:srgbClr val="0D9488"/>
                </a:solidFill>
                <a:latin typeface="Calibri"/>
              </a:rPr>
              <a:t>MOT </a:t>
            </a:r>
            <a:r>
              <a:rPr lang="en-GB" sz="1600" noProof="1">
                <a:solidFill>
                  <a:srgbClr val="2D3A4A"/>
                </a:solidFill>
                <a:latin typeface="Calibri"/>
              </a:rPr>
              <a:t>= Mother (caregiver)</a:t>
            </a:r>
          </a:p>
        </p:txBody>
      </p:sp>
      <p:sp>
        <p:nvSpPr>
          <p:cNvPr id="5" name="TextBox 4"/>
          <p:cNvSpPr txBox="1"/>
          <p:nvPr/>
        </p:nvSpPr>
        <p:spPr>
          <a:xfrm>
            <a:off x="6400800" y="1783080"/>
            <a:ext cx="5029200" cy="365760"/>
          </a:xfrm>
          <a:prstGeom prst="rect">
            <a:avLst/>
          </a:prstGeom>
          <a:noFill/>
        </p:spPr>
        <p:txBody>
          <a:bodyPr wrap="square">
            <a:spAutoFit/>
          </a:bodyPr>
          <a:lstStyle/>
          <a:p>
            <a:r>
              <a:rPr lang="en-GB" sz="1600" b="1" noProof="1">
                <a:solidFill>
                  <a:srgbClr val="0D9488"/>
                </a:solidFill>
                <a:latin typeface="Calibri"/>
              </a:rPr>
              <a:t>CHI </a:t>
            </a:r>
            <a:r>
              <a:rPr lang="en-GB" sz="1600" noProof="1">
                <a:solidFill>
                  <a:srgbClr val="2D3A4A"/>
                </a:solidFill>
                <a:latin typeface="Calibri"/>
              </a:rPr>
              <a:t>= Child</a:t>
            </a:r>
          </a:p>
        </p:txBody>
      </p:sp>
      <p:sp>
        <p:nvSpPr>
          <p:cNvPr id="6" name="TextBox 5"/>
          <p:cNvSpPr txBox="1"/>
          <p:nvPr/>
        </p:nvSpPr>
        <p:spPr>
          <a:xfrm>
            <a:off x="6400800" y="2606040"/>
            <a:ext cx="5029200" cy="365760"/>
          </a:xfrm>
          <a:prstGeom prst="rect">
            <a:avLst/>
          </a:prstGeom>
          <a:noFill/>
        </p:spPr>
        <p:txBody>
          <a:bodyPr wrap="square">
            <a:spAutoFit/>
          </a:bodyPr>
          <a:lstStyle/>
          <a:p>
            <a:r>
              <a:rPr lang="en-GB" sz="1600" b="1" noProof="1">
                <a:solidFill>
                  <a:srgbClr val="0D9488"/>
                </a:solidFill>
                <a:latin typeface="Calibri"/>
              </a:rPr>
              <a:t>WH: </a:t>
            </a:r>
            <a:r>
              <a:rPr lang="en-GB" sz="1600" noProof="1">
                <a:solidFill>
                  <a:srgbClr val="2D3A4A"/>
                </a:solidFill>
                <a:latin typeface="Calibri"/>
              </a:rPr>
              <a:t>"what's that?" "what's on the roof?"</a:t>
            </a:r>
          </a:p>
        </p:txBody>
      </p:sp>
      <p:sp>
        <p:nvSpPr>
          <p:cNvPr id="7" name="TextBox 6"/>
          <p:cNvSpPr txBox="1"/>
          <p:nvPr/>
        </p:nvSpPr>
        <p:spPr>
          <a:xfrm>
            <a:off x="6400800" y="3017520"/>
            <a:ext cx="5029200" cy="365760"/>
          </a:xfrm>
          <a:prstGeom prst="rect">
            <a:avLst/>
          </a:prstGeom>
          <a:noFill/>
        </p:spPr>
        <p:txBody>
          <a:bodyPr wrap="square">
            <a:spAutoFit/>
          </a:bodyPr>
          <a:lstStyle/>
          <a:p>
            <a:r>
              <a:rPr lang="en-GB" sz="1600" b="1" noProof="1">
                <a:solidFill>
                  <a:srgbClr val="0D9488"/>
                </a:solidFill>
                <a:latin typeface="Calibri"/>
              </a:rPr>
              <a:t>Y/N: </a:t>
            </a:r>
            <a:r>
              <a:rPr lang="en-GB" sz="1600" noProof="1">
                <a:solidFill>
                  <a:srgbClr val="2D3A4A"/>
                </a:solidFill>
                <a:latin typeface="Calibri"/>
              </a:rPr>
              <a:t>"do you remember the rabbit's name?"</a:t>
            </a:r>
          </a:p>
        </p:txBody>
      </p:sp>
      <p:sp>
        <p:nvSpPr>
          <p:cNvPr id="8" name="TextBox 7"/>
          <p:cNvSpPr txBox="1"/>
          <p:nvPr/>
        </p:nvSpPr>
        <p:spPr>
          <a:xfrm>
            <a:off x="6400800" y="3840480"/>
            <a:ext cx="5029200" cy="365760"/>
          </a:xfrm>
          <a:prstGeom prst="rect">
            <a:avLst/>
          </a:prstGeom>
          <a:noFill/>
        </p:spPr>
        <p:txBody>
          <a:bodyPr wrap="square">
            <a:spAutoFit/>
          </a:bodyPr>
          <a:lstStyle/>
          <a:p>
            <a:pPr algn="l"/>
            <a:r>
              <a:rPr lang="en-GB" sz="1600" b="0" i="0" noProof="1">
                <a:solidFill>
                  <a:srgbClr val="2D3A4A"/>
                </a:solidFill>
                <a:latin typeface="Calibri"/>
              </a:rPr>
              <a:t>Each question-answer pair extracted and coded</a:t>
            </a:r>
          </a:p>
        </p:txBody>
      </p:sp>
      <p:sp>
        <p:nvSpPr>
          <p:cNvPr id="9" name="TextBox 8"/>
          <p:cNvSpPr txBox="1"/>
          <p:nvPr/>
        </p:nvSpPr>
        <p:spPr>
          <a:xfrm>
            <a:off x="731520" y="5669280"/>
            <a:ext cx="5029200" cy="274320"/>
          </a:xfrm>
          <a:prstGeom prst="rect">
            <a:avLst/>
          </a:prstGeom>
          <a:noFill/>
        </p:spPr>
        <p:txBody>
          <a:bodyPr wrap="square">
            <a:spAutoFit/>
          </a:bodyPr>
          <a:lstStyle/>
          <a:p>
            <a:pPr algn="l"/>
            <a:r>
              <a:rPr lang="en-GB" sz="1100" b="0" i="1" noProof="1">
                <a:solidFill>
                  <a:srgbClr val="64748B"/>
                </a:solidFill>
                <a:latin typeface="Calibri"/>
              </a:rPr>
              <a:t>Bates (1988) corpus — CHILDES format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315200" cy="640080"/>
          </a:xfrm>
          <a:prstGeom prst="rect">
            <a:avLst/>
          </a:prstGeom>
          <a:noFill/>
        </p:spPr>
        <p:txBody>
          <a:bodyPr wrap="square">
            <a:spAutoFit/>
          </a:bodyPr>
          <a:lstStyle/>
          <a:p>
            <a:pPr algn="l"/>
            <a:r>
              <a:rPr lang="en-GB" sz="3600" b="1" i="0" noProof="1">
                <a:solidFill>
                  <a:srgbClr val="2D3A4A"/>
                </a:solidFill>
                <a:latin typeface="Georgia"/>
              </a:rPr>
              <a:t>Our Pipeline</a:t>
            </a:r>
          </a:p>
        </p:txBody>
      </p:sp>
      <p:sp>
        <p:nvSpPr>
          <p:cNvPr id="3" name="Rectangle 2"/>
          <p:cNvSpPr/>
          <p:nvPr/>
        </p:nvSpPr>
        <p:spPr>
          <a:xfrm>
            <a:off x="342898" y="1005840"/>
            <a:ext cx="2055781" cy="1530883"/>
          </a:xfrm>
          <a:prstGeom prst="rect">
            <a:avLst/>
          </a:prstGeom>
          <a:solidFill>
            <a:srgbClr val="84B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4" name="TextBox 3"/>
          <p:cNvSpPr txBox="1"/>
          <p:nvPr/>
        </p:nvSpPr>
        <p:spPr>
          <a:xfrm>
            <a:off x="386999" y="1341829"/>
            <a:ext cx="2011680" cy="1371600"/>
          </a:xfrm>
          <a:prstGeom prst="rect">
            <a:avLst/>
          </a:prstGeom>
          <a:noFill/>
        </p:spPr>
        <p:txBody>
          <a:bodyPr wrap="square">
            <a:spAutoFit/>
          </a:bodyPr>
          <a:lstStyle/>
          <a:p>
            <a:pPr algn="ctr"/>
            <a:r>
              <a:rPr lang="en-GB" sz="1500" b="1" i="0" noProof="1">
                <a:solidFill>
                  <a:srgbClr val="FFFFFF"/>
                </a:solidFill>
                <a:latin typeface="Calibri"/>
              </a:rPr>
              <a:t>Raw CHILDES
Transcripts
(.cha files)</a:t>
            </a:r>
          </a:p>
        </p:txBody>
      </p:sp>
      <p:sp>
        <p:nvSpPr>
          <p:cNvPr id="5" name="TextBox 4"/>
          <p:cNvSpPr txBox="1"/>
          <p:nvPr/>
        </p:nvSpPr>
        <p:spPr>
          <a:xfrm>
            <a:off x="2766059" y="1645920"/>
            <a:ext cx="548640" cy="731520"/>
          </a:xfrm>
          <a:prstGeom prst="rect">
            <a:avLst/>
          </a:prstGeom>
          <a:noFill/>
        </p:spPr>
        <p:txBody>
          <a:bodyPr wrap="square">
            <a:spAutoFit/>
          </a:bodyPr>
          <a:lstStyle/>
          <a:p>
            <a:pPr algn="ctr"/>
            <a:r>
              <a:rPr lang="en-GB" sz="3000" b="1" i="0" noProof="1">
                <a:solidFill>
                  <a:srgbClr val="64748B"/>
                </a:solidFill>
                <a:latin typeface="Calibri"/>
              </a:rPr>
              <a:t>→</a:t>
            </a:r>
          </a:p>
        </p:txBody>
      </p:sp>
      <p:sp>
        <p:nvSpPr>
          <p:cNvPr id="6" name="Rectangle 5"/>
          <p:cNvSpPr/>
          <p:nvPr/>
        </p:nvSpPr>
        <p:spPr>
          <a:xfrm>
            <a:off x="3383279" y="1005840"/>
            <a:ext cx="2059614" cy="1530883"/>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7" name="TextBox 6"/>
          <p:cNvSpPr txBox="1"/>
          <p:nvPr/>
        </p:nvSpPr>
        <p:spPr>
          <a:xfrm>
            <a:off x="3401716" y="1474882"/>
            <a:ext cx="2011680" cy="784830"/>
          </a:xfrm>
          <a:prstGeom prst="rect">
            <a:avLst/>
          </a:prstGeom>
          <a:noFill/>
        </p:spPr>
        <p:txBody>
          <a:bodyPr wrap="square">
            <a:spAutoFit/>
          </a:bodyPr>
          <a:lstStyle/>
          <a:p>
            <a:pPr algn="ctr"/>
            <a:r>
              <a:rPr lang="en-GB" sz="1500" b="1" i="0" noProof="1">
                <a:solidFill>
                  <a:srgbClr val="FFFFFF"/>
                </a:solidFill>
                <a:latin typeface="Calibri"/>
              </a:rPr>
              <a:t>Python
Cleaning Script
</a:t>
            </a:r>
          </a:p>
        </p:txBody>
      </p:sp>
      <p:sp>
        <p:nvSpPr>
          <p:cNvPr id="8" name="TextBox 7"/>
          <p:cNvSpPr txBox="1"/>
          <p:nvPr/>
        </p:nvSpPr>
        <p:spPr>
          <a:xfrm>
            <a:off x="5810272" y="1639389"/>
            <a:ext cx="548640" cy="731520"/>
          </a:xfrm>
          <a:prstGeom prst="rect">
            <a:avLst/>
          </a:prstGeom>
          <a:noFill/>
        </p:spPr>
        <p:txBody>
          <a:bodyPr wrap="square">
            <a:spAutoFit/>
          </a:bodyPr>
          <a:lstStyle/>
          <a:p>
            <a:pPr algn="ctr"/>
            <a:r>
              <a:rPr lang="en-GB" sz="3000" b="1" i="0" noProof="1">
                <a:solidFill>
                  <a:srgbClr val="64748B"/>
                </a:solidFill>
                <a:latin typeface="Calibri"/>
              </a:rPr>
              <a:t>→</a:t>
            </a:r>
          </a:p>
        </p:txBody>
      </p:sp>
      <p:sp>
        <p:nvSpPr>
          <p:cNvPr id="9" name="Rectangle 8"/>
          <p:cNvSpPr/>
          <p:nvPr/>
        </p:nvSpPr>
        <p:spPr>
          <a:xfrm>
            <a:off x="6492238" y="1005840"/>
            <a:ext cx="2059614" cy="1530883"/>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0" name="TextBox 9"/>
          <p:cNvSpPr txBox="1"/>
          <p:nvPr/>
        </p:nvSpPr>
        <p:spPr>
          <a:xfrm>
            <a:off x="6475279" y="1341786"/>
            <a:ext cx="2011680" cy="1371600"/>
          </a:xfrm>
          <a:prstGeom prst="rect">
            <a:avLst/>
          </a:prstGeom>
          <a:noFill/>
        </p:spPr>
        <p:txBody>
          <a:bodyPr wrap="square">
            <a:spAutoFit/>
          </a:bodyPr>
          <a:lstStyle/>
          <a:p>
            <a:pPr algn="ctr"/>
            <a:r>
              <a:rPr lang="en-GB" sz="1500" b="1" i="0" noProof="1">
                <a:solidFill>
                  <a:srgbClr val="FFFFFF"/>
                </a:solidFill>
                <a:latin typeface="Calibri"/>
              </a:rPr>
              <a:t>Coded CSV
(questions, types,
answer lengths)</a:t>
            </a:r>
          </a:p>
        </p:txBody>
      </p:sp>
      <p:sp>
        <p:nvSpPr>
          <p:cNvPr id="11" name="TextBox 10"/>
          <p:cNvSpPr txBox="1"/>
          <p:nvPr/>
        </p:nvSpPr>
        <p:spPr>
          <a:xfrm>
            <a:off x="8911565" y="1639389"/>
            <a:ext cx="548640" cy="731520"/>
          </a:xfrm>
          <a:prstGeom prst="rect">
            <a:avLst/>
          </a:prstGeom>
          <a:noFill/>
        </p:spPr>
        <p:txBody>
          <a:bodyPr wrap="square">
            <a:spAutoFit/>
          </a:bodyPr>
          <a:lstStyle/>
          <a:p>
            <a:pPr algn="ctr"/>
            <a:r>
              <a:rPr lang="en-GB" sz="3000" b="1" i="0" noProof="1">
                <a:solidFill>
                  <a:srgbClr val="64748B"/>
                </a:solidFill>
                <a:latin typeface="Calibri"/>
              </a:rPr>
              <a:t>→</a:t>
            </a:r>
          </a:p>
        </p:txBody>
      </p:sp>
      <p:sp>
        <p:nvSpPr>
          <p:cNvPr id="12" name="Rectangle 11"/>
          <p:cNvSpPr/>
          <p:nvPr/>
        </p:nvSpPr>
        <p:spPr>
          <a:xfrm>
            <a:off x="9601197" y="1005840"/>
            <a:ext cx="2059614" cy="1530883"/>
          </a:xfrm>
          <a:prstGeom prst="rect">
            <a:avLst/>
          </a:prstGeom>
          <a:solidFill>
            <a:srgbClr val="F9C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3" name="TextBox 12"/>
          <p:cNvSpPr txBox="1"/>
          <p:nvPr/>
        </p:nvSpPr>
        <p:spPr>
          <a:xfrm>
            <a:off x="9601197" y="1368335"/>
            <a:ext cx="2011680" cy="784830"/>
          </a:xfrm>
          <a:prstGeom prst="rect">
            <a:avLst/>
          </a:prstGeom>
          <a:noFill/>
        </p:spPr>
        <p:txBody>
          <a:bodyPr wrap="square">
            <a:spAutoFit/>
          </a:bodyPr>
          <a:lstStyle/>
          <a:p>
            <a:pPr algn="ctr"/>
            <a:r>
              <a:rPr lang="en-GB" sz="1500" b="1" i="0" noProof="1">
                <a:solidFill>
                  <a:srgbClr val="FFFFFF"/>
                </a:solidFill>
                <a:latin typeface="Calibri"/>
              </a:rPr>
              <a:t>Analysis &amp;
Visualisation
(Python)</a:t>
            </a:r>
          </a:p>
        </p:txBody>
      </p:sp>
      <p:pic>
        <p:nvPicPr>
          <p:cNvPr id="16" name="Picture 15">
            <a:extLst>
              <a:ext uri="{FF2B5EF4-FFF2-40B4-BE49-F238E27FC236}">
                <a16:creationId xmlns:a16="http://schemas.microsoft.com/office/drawing/2014/main" id="{82A67FDD-99C1-7392-4544-FA5EE0A12817}"/>
              </a:ext>
            </a:extLst>
          </p:cNvPr>
          <p:cNvPicPr>
            <a:picLocks noChangeAspect="1"/>
          </p:cNvPicPr>
          <p:nvPr/>
        </p:nvPicPr>
        <p:blipFill>
          <a:blip r:embed="rId3"/>
          <a:srcRect b="47238"/>
          <a:stretch>
            <a:fillRect/>
          </a:stretch>
        </p:blipFill>
        <p:spPr>
          <a:xfrm>
            <a:off x="1873443" y="2628163"/>
            <a:ext cx="6698170" cy="4019592"/>
          </a:xfrm>
          <a:prstGeom prst="rect">
            <a:avLst/>
          </a:prstGeom>
        </p:spPr>
      </p:pic>
      <p:pic>
        <p:nvPicPr>
          <p:cNvPr id="17" name="Picture 16">
            <a:extLst>
              <a:ext uri="{FF2B5EF4-FFF2-40B4-BE49-F238E27FC236}">
                <a16:creationId xmlns:a16="http://schemas.microsoft.com/office/drawing/2014/main" id="{A110EB3F-BF6B-5089-1EAF-C39297415FA1}"/>
              </a:ext>
            </a:extLst>
          </p:cNvPr>
          <p:cNvPicPr>
            <a:picLocks noChangeAspect="1"/>
          </p:cNvPicPr>
          <p:nvPr/>
        </p:nvPicPr>
        <p:blipFill>
          <a:blip r:embed="rId3"/>
          <a:srcRect t="58000"/>
          <a:stretch>
            <a:fillRect/>
          </a:stretch>
        </p:blipFill>
        <p:spPr>
          <a:xfrm>
            <a:off x="1873443" y="2621631"/>
            <a:ext cx="8428142" cy="4026123"/>
          </a:xfrm>
          <a:prstGeom prst="rect">
            <a:avLst/>
          </a:prstGeom>
        </p:spPr>
      </p:pic>
      <p:pic>
        <p:nvPicPr>
          <p:cNvPr id="18" name="Picture 17">
            <a:extLst>
              <a:ext uri="{FF2B5EF4-FFF2-40B4-BE49-F238E27FC236}">
                <a16:creationId xmlns:a16="http://schemas.microsoft.com/office/drawing/2014/main" id="{F03F3765-5753-1BF3-98A2-9889D5F7D345}"/>
              </a:ext>
            </a:extLst>
          </p:cNvPr>
          <p:cNvPicPr>
            <a:picLocks noChangeAspect="1"/>
          </p:cNvPicPr>
          <p:nvPr/>
        </p:nvPicPr>
        <p:blipFill>
          <a:blip r:embed="rId4"/>
          <a:stretch>
            <a:fillRect/>
          </a:stretch>
        </p:blipFill>
        <p:spPr>
          <a:xfrm>
            <a:off x="342898" y="2628162"/>
            <a:ext cx="11707350" cy="4104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058400" cy="640080"/>
          </a:xfrm>
          <a:prstGeom prst="rect">
            <a:avLst/>
          </a:prstGeom>
          <a:noFill/>
        </p:spPr>
        <p:txBody>
          <a:bodyPr wrap="square">
            <a:spAutoFit/>
          </a:bodyPr>
          <a:lstStyle/>
          <a:p>
            <a:pPr algn="l"/>
            <a:r>
              <a:rPr lang="en-GB" sz="3600" b="1" i="0" noProof="1">
                <a:solidFill>
                  <a:srgbClr val="2D3A4A"/>
                </a:solidFill>
                <a:latin typeface="Georgia"/>
              </a:rPr>
              <a:t>Book Reading Drives WH Questions</a:t>
            </a:r>
          </a:p>
        </p:txBody>
      </p:sp>
      <p:pic>
        <p:nvPicPr>
          <p:cNvPr id="3" name="Picture 2" descr="total_questions_by_activity_speaker_type2.png"/>
          <p:cNvPicPr>
            <a:picLocks noChangeAspect="1"/>
          </p:cNvPicPr>
          <p:nvPr/>
        </p:nvPicPr>
        <p:blipFill>
          <a:blip r:embed="rId3"/>
          <a:stretch>
            <a:fillRect/>
          </a:stretch>
        </p:blipFill>
        <p:spPr>
          <a:xfrm>
            <a:off x="274320" y="1005840"/>
            <a:ext cx="7772400" cy="5029200"/>
          </a:xfrm>
          <a:prstGeom prst="rect">
            <a:avLst/>
          </a:prstGeom>
        </p:spPr>
      </p:pic>
      <p:sp>
        <p:nvSpPr>
          <p:cNvPr id="4" name="TextBox 3"/>
          <p:cNvSpPr txBox="1"/>
          <p:nvPr/>
        </p:nvSpPr>
        <p:spPr>
          <a:xfrm>
            <a:off x="8686800" y="1645920"/>
            <a:ext cx="2743200" cy="914400"/>
          </a:xfrm>
          <a:prstGeom prst="rect">
            <a:avLst/>
          </a:prstGeom>
          <a:noFill/>
        </p:spPr>
        <p:txBody>
          <a:bodyPr wrap="square">
            <a:spAutoFit/>
          </a:bodyPr>
          <a:lstStyle/>
          <a:p>
            <a:pPr algn="ctr"/>
            <a:r>
              <a:rPr lang="en-GB" sz="6000" b="1" i="0" noProof="1">
                <a:solidFill>
                  <a:srgbClr val="0D9488"/>
                </a:solidFill>
                <a:latin typeface="Georgia"/>
              </a:rPr>
              <a:t>448</a:t>
            </a:r>
          </a:p>
        </p:txBody>
      </p:sp>
      <p:sp>
        <p:nvSpPr>
          <p:cNvPr id="5" name="TextBox 4"/>
          <p:cNvSpPr txBox="1"/>
          <p:nvPr/>
        </p:nvSpPr>
        <p:spPr>
          <a:xfrm>
            <a:off x="8503920" y="2560320"/>
            <a:ext cx="3200400" cy="1371600"/>
          </a:xfrm>
          <a:prstGeom prst="rect">
            <a:avLst/>
          </a:prstGeom>
          <a:noFill/>
        </p:spPr>
        <p:txBody>
          <a:bodyPr wrap="square">
            <a:spAutoFit/>
          </a:bodyPr>
          <a:lstStyle/>
          <a:p>
            <a:pPr algn="ctr"/>
            <a:r>
              <a:rPr lang="en-GB" sz="1600" b="0" i="0" noProof="1">
                <a:solidFill>
                  <a:srgbClr val="64748B"/>
                </a:solidFill>
                <a:latin typeface="Calibri"/>
              </a:rPr>
              <a:t>of 758 total
wh-questions
were in book reading</a:t>
            </a:r>
          </a:p>
        </p:txBody>
      </p:sp>
      <p:sp>
        <p:nvSpPr>
          <p:cNvPr id="6" name="TextBox 5"/>
          <p:cNvSpPr txBox="1"/>
          <p:nvPr/>
        </p:nvSpPr>
        <p:spPr>
          <a:xfrm>
            <a:off x="8686800" y="3931920"/>
            <a:ext cx="2743200" cy="548640"/>
          </a:xfrm>
          <a:prstGeom prst="rect">
            <a:avLst/>
          </a:prstGeom>
          <a:noFill/>
        </p:spPr>
        <p:txBody>
          <a:bodyPr wrap="square">
            <a:spAutoFit/>
          </a:bodyPr>
          <a:lstStyle/>
          <a:p>
            <a:pPr algn="ctr"/>
            <a:r>
              <a:rPr lang="en-GB" sz="2800" b="1" i="0" noProof="1">
                <a:solidFill>
                  <a:srgbClr val="0D9488"/>
                </a:solidFill>
                <a:latin typeface="Georgia"/>
              </a:rPr>
              <a:t>= 59%</a:t>
            </a:r>
          </a:p>
        </p:txBody>
      </p:sp>
      <p:sp>
        <p:nvSpPr>
          <p:cNvPr id="7" name="TextBox 6"/>
          <p:cNvSpPr txBox="1"/>
          <p:nvPr/>
        </p:nvSpPr>
        <p:spPr>
          <a:xfrm>
            <a:off x="8229600" y="5029200"/>
            <a:ext cx="3657600" cy="731520"/>
          </a:xfrm>
          <a:prstGeom prst="rect">
            <a:avLst/>
          </a:prstGeom>
          <a:noFill/>
        </p:spPr>
        <p:txBody>
          <a:bodyPr wrap="square">
            <a:spAutoFit/>
          </a:bodyPr>
          <a:lstStyle/>
          <a:p>
            <a:pPr algn="ctr"/>
            <a:r>
              <a:rPr lang="en-GB" sz="1200" b="0" i="1" noProof="1">
                <a:solidFill>
                  <a:srgbClr val="64748B"/>
                </a:solidFill>
                <a:latin typeface="Calibri"/>
              </a:rPr>
              <a:t>Note: Children ask more Qs in free play,
but our question is about their responses.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9387"/>
            <a:ext cx="10058400" cy="640080"/>
          </a:xfrm>
          <a:prstGeom prst="rect">
            <a:avLst/>
          </a:prstGeom>
          <a:noFill/>
        </p:spPr>
        <p:txBody>
          <a:bodyPr wrap="square">
            <a:spAutoFit/>
          </a:bodyPr>
          <a:lstStyle/>
          <a:p>
            <a:pPr algn="l"/>
            <a:r>
              <a:rPr lang="en-GB" sz="3600" b="1" i="0" noProof="1">
                <a:solidFill>
                  <a:srgbClr val="2D3A4A"/>
                </a:solidFill>
                <a:latin typeface="Georgia"/>
              </a:rPr>
              <a:t>WH Responses Across Activities</a:t>
            </a:r>
          </a:p>
        </p:txBody>
      </p:sp>
      <p:sp>
        <p:nvSpPr>
          <p:cNvPr id="4" name="TextBox 3"/>
          <p:cNvSpPr txBox="1"/>
          <p:nvPr/>
        </p:nvSpPr>
        <p:spPr>
          <a:xfrm>
            <a:off x="731520" y="6485797"/>
            <a:ext cx="10058400" cy="365760"/>
          </a:xfrm>
          <a:prstGeom prst="rect">
            <a:avLst/>
          </a:prstGeom>
          <a:noFill/>
        </p:spPr>
        <p:txBody>
          <a:bodyPr wrap="square">
            <a:spAutoFit/>
          </a:bodyPr>
          <a:lstStyle/>
          <a:p>
            <a:pPr algn="ctr"/>
            <a:r>
              <a:rPr lang="en-GB" sz="1500" b="1" i="0" noProof="1">
                <a:solidFill>
                  <a:srgbClr val="2D3A4A"/>
                </a:solidFill>
                <a:latin typeface="Calibri"/>
              </a:rPr>
              <a:t>🟠 Orange = Child MLU in response to WH questions    🔵 Blue = Child MLU for that session overall</a:t>
            </a:r>
          </a:p>
        </p:txBody>
      </p:sp>
      <p:pic>
        <p:nvPicPr>
          <p:cNvPr id="11" name="Picture 10">
            <a:extLst>
              <a:ext uri="{FF2B5EF4-FFF2-40B4-BE49-F238E27FC236}">
                <a16:creationId xmlns:a16="http://schemas.microsoft.com/office/drawing/2014/main" id="{C39614C6-19EC-A41B-F154-62570A667D86}"/>
              </a:ext>
            </a:extLst>
          </p:cNvPr>
          <p:cNvPicPr>
            <a:picLocks noChangeAspect="1"/>
          </p:cNvPicPr>
          <p:nvPr/>
        </p:nvPicPr>
        <p:blipFill>
          <a:blip r:embed="rId3"/>
          <a:stretch>
            <a:fillRect/>
          </a:stretch>
        </p:blipFill>
        <p:spPr>
          <a:xfrm>
            <a:off x="139337" y="569321"/>
            <a:ext cx="11747863" cy="5873932"/>
          </a:xfrm>
          <a:prstGeom prst="rect">
            <a:avLst/>
          </a:prstGeom>
        </p:spPr>
      </p:pic>
      <p:sp>
        <p:nvSpPr>
          <p:cNvPr id="3" name="Rectangle 2">
            <a:extLst>
              <a:ext uri="{FF2B5EF4-FFF2-40B4-BE49-F238E27FC236}">
                <a16:creationId xmlns:a16="http://schemas.microsoft.com/office/drawing/2014/main" id="{24CE88B8-CC3D-7950-1810-27333559FB64}"/>
              </a:ext>
            </a:extLst>
          </p:cNvPr>
          <p:cNvSpPr/>
          <p:nvPr/>
        </p:nvSpPr>
        <p:spPr>
          <a:xfrm>
            <a:off x="887896" y="1364974"/>
            <a:ext cx="3578087" cy="463826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solidFill>
                <a:schemeClr val="bg1"/>
              </a:solidFill>
            </a:endParaRPr>
          </a:p>
        </p:txBody>
      </p:sp>
      <p:sp>
        <p:nvSpPr>
          <p:cNvPr id="5" name="Rectangle 4">
            <a:extLst>
              <a:ext uri="{FF2B5EF4-FFF2-40B4-BE49-F238E27FC236}">
                <a16:creationId xmlns:a16="http://schemas.microsoft.com/office/drawing/2014/main" id="{6D50DB6D-6E8B-EBB6-1B88-0DD67F019EF0}"/>
              </a:ext>
            </a:extLst>
          </p:cNvPr>
          <p:cNvSpPr/>
          <p:nvPr/>
        </p:nvSpPr>
        <p:spPr>
          <a:xfrm>
            <a:off x="4598504" y="1364974"/>
            <a:ext cx="3578087" cy="463826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solidFill>
                <a:schemeClr val="bg1"/>
              </a:solidFill>
            </a:endParaRPr>
          </a:p>
        </p:txBody>
      </p:sp>
      <p:sp>
        <p:nvSpPr>
          <p:cNvPr id="6" name="Rectangle 5">
            <a:extLst>
              <a:ext uri="{FF2B5EF4-FFF2-40B4-BE49-F238E27FC236}">
                <a16:creationId xmlns:a16="http://schemas.microsoft.com/office/drawing/2014/main" id="{A559AE08-EC54-3307-6E9E-3E54CCBA731A}"/>
              </a:ext>
            </a:extLst>
          </p:cNvPr>
          <p:cNvSpPr/>
          <p:nvPr/>
        </p:nvSpPr>
        <p:spPr>
          <a:xfrm>
            <a:off x="8242852" y="1364974"/>
            <a:ext cx="3578087" cy="463826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xit" presetSubtype="10" fill="hold" grpId="1" nodeType="clickEffect">
                                  <p:stCondLst>
                                    <p:cond delay="0"/>
                                  </p:stCondLst>
                                  <p:childTnLst>
                                    <p:anim calcmode="lin" valueType="num">
                                      <p:cBhvr>
                                        <p:cTn id="6" dur="500"/>
                                        <p:tgtEl>
                                          <p:spTgt spid="3"/>
                                        </p:tgtEl>
                                        <p:attrNameLst>
                                          <p:attrName>ppt_w</p:attrName>
                                        </p:attrNameLst>
                                      </p:cBhvr>
                                      <p:tavLst>
                                        <p:tav tm="0">
                                          <p:val>
                                            <p:strVal val="ppt_w"/>
                                          </p:val>
                                        </p:tav>
                                        <p:tav tm="100000">
                                          <p:val>
                                            <p:fltVal val="0"/>
                                          </p:val>
                                        </p:tav>
                                      </p:tavLst>
                                    </p:anim>
                                    <p:anim calcmode="lin" valueType="num">
                                      <p:cBhvr>
                                        <p:cTn id="7" dur="500"/>
                                        <p:tgtEl>
                                          <p:spTgt spid="3"/>
                                        </p:tgtEl>
                                        <p:attrNameLst>
                                          <p:attrName>ppt_h</p:attrName>
                                        </p:attrNameLst>
                                      </p:cBhvr>
                                      <p:tavLst>
                                        <p:tav tm="0">
                                          <p:val>
                                            <p:strVal val="ppt_h"/>
                                          </p:val>
                                        </p:tav>
                                        <p:tav tm="100000">
                                          <p:val>
                                            <p:strVal val="ppt_h"/>
                                          </p:val>
                                        </p:tav>
                                      </p:tavLst>
                                    </p:anim>
                                    <p:set>
                                      <p:cBhvr>
                                        <p:cTn id="8" dur="1" fill="hold">
                                          <p:stCondLst>
                                            <p:cond delay="499"/>
                                          </p:stCondLst>
                                        </p:cTn>
                                        <p:tgtEl>
                                          <p:spTgt spid="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7" presetClass="exit" presetSubtype="10" fill="hold" grpId="0" nodeType="clickEffect">
                                  <p:stCondLst>
                                    <p:cond delay="0"/>
                                  </p:stCondLst>
                                  <p:childTnLst>
                                    <p:anim calcmode="lin" valueType="num">
                                      <p:cBhvr>
                                        <p:cTn id="12" dur="500"/>
                                        <p:tgtEl>
                                          <p:spTgt spid="5"/>
                                        </p:tgtEl>
                                        <p:attrNameLst>
                                          <p:attrName>ppt_w</p:attrName>
                                        </p:attrNameLst>
                                      </p:cBhvr>
                                      <p:tavLst>
                                        <p:tav tm="0">
                                          <p:val>
                                            <p:strVal val="ppt_w"/>
                                          </p:val>
                                        </p:tav>
                                        <p:tav tm="100000">
                                          <p:val>
                                            <p:fltVal val="0"/>
                                          </p:val>
                                        </p:tav>
                                      </p:tavLst>
                                    </p:anim>
                                    <p:anim calcmode="lin" valueType="num">
                                      <p:cBhvr>
                                        <p:cTn id="13" dur="500"/>
                                        <p:tgtEl>
                                          <p:spTgt spid="5"/>
                                        </p:tgtEl>
                                        <p:attrNameLst>
                                          <p:attrName>ppt_h</p:attrName>
                                        </p:attrNameLst>
                                      </p:cBhvr>
                                      <p:tavLst>
                                        <p:tav tm="0">
                                          <p:val>
                                            <p:strVal val="ppt_h"/>
                                          </p:val>
                                        </p:tav>
                                        <p:tav tm="100000">
                                          <p:val>
                                            <p:strVal val="ppt_h"/>
                                          </p:val>
                                        </p:tav>
                                      </p:tavLst>
                                    </p:anim>
                                    <p:set>
                                      <p:cBhvr>
                                        <p:cTn id="14" dur="1" fill="hold">
                                          <p:stCondLst>
                                            <p:cond delay="499"/>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7" presetClass="exit" presetSubtype="10" fill="hold" grpId="0" nodeType="clickEffect">
                                  <p:stCondLst>
                                    <p:cond delay="0"/>
                                  </p:stCondLst>
                                  <p:childTnLst>
                                    <p:anim calcmode="lin" valueType="num">
                                      <p:cBhvr>
                                        <p:cTn id="18" dur="500"/>
                                        <p:tgtEl>
                                          <p:spTgt spid="6"/>
                                        </p:tgtEl>
                                        <p:attrNameLst>
                                          <p:attrName>ppt_w</p:attrName>
                                        </p:attrNameLst>
                                      </p:cBhvr>
                                      <p:tavLst>
                                        <p:tav tm="0">
                                          <p:val>
                                            <p:strVal val="ppt_w"/>
                                          </p:val>
                                        </p:tav>
                                        <p:tav tm="100000">
                                          <p:val>
                                            <p:fltVal val="0"/>
                                          </p:val>
                                        </p:tav>
                                      </p:tavLst>
                                    </p:anim>
                                    <p:anim calcmode="lin" valueType="num">
                                      <p:cBhvr>
                                        <p:cTn id="19" dur="500"/>
                                        <p:tgtEl>
                                          <p:spTgt spid="6"/>
                                        </p:tgtEl>
                                        <p:attrNameLst>
                                          <p:attrName>ppt_h</p:attrName>
                                        </p:attrNameLst>
                                      </p:cBhvr>
                                      <p:tavLst>
                                        <p:tav tm="0">
                                          <p:val>
                                            <p:strVal val="ppt_h"/>
                                          </p:val>
                                        </p:tav>
                                        <p:tav tm="100000">
                                          <p:val>
                                            <p:strVal val="ppt_h"/>
                                          </p:val>
                                        </p:tav>
                                      </p:tavLst>
                                    </p:anim>
                                    <p:set>
                                      <p:cBhvr>
                                        <p:cTn id="2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698480" cy="584775"/>
          </a:xfrm>
          <a:prstGeom prst="rect">
            <a:avLst/>
          </a:prstGeom>
          <a:noFill/>
        </p:spPr>
        <p:txBody>
          <a:bodyPr wrap="square">
            <a:spAutoFit/>
          </a:bodyPr>
          <a:lstStyle/>
          <a:p>
            <a:pPr algn="l"/>
            <a:r>
              <a:rPr lang="en-GB" sz="3200" b="1" i="0" noProof="1">
                <a:solidFill>
                  <a:srgbClr val="2D3A4A"/>
                </a:solidFill>
                <a:latin typeface="Georgia"/>
              </a:rPr>
              <a:t>Overall: WH Questions Elicit Longer Responses</a:t>
            </a:r>
          </a:p>
        </p:txBody>
      </p:sp>
      <p:sp>
        <p:nvSpPr>
          <p:cNvPr id="4" name="TextBox 3"/>
          <p:cNvSpPr txBox="1"/>
          <p:nvPr/>
        </p:nvSpPr>
        <p:spPr>
          <a:xfrm>
            <a:off x="7772400" y="1828800"/>
            <a:ext cx="3657600" cy="640080"/>
          </a:xfrm>
          <a:prstGeom prst="rect">
            <a:avLst/>
          </a:prstGeom>
          <a:noFill/>
        </p:spPr>
        <p:txBody>
          <a:bodyPr wrap="square">
            <a:spAutoFit/>
          </a:bodyPr>
          <a:lstStyle/>
          <a:p>
            <a:pPr algn="ctr"/>
            <a:r>
              <a:rPr lang="en-GB" sz="4000" b="1" i="0" noProof="1">
                <a:solidFill>
                  <a:srgbClr val="0D9488"/>
                </a:solidFill>
                <a:latin typeface="Georgia"/>
              </a:rPr>
              <a:t>M = 2.15</a:t>
            </a:r>
          </a:p>
        </p:txBody>
      </p:sp>
      <p:sp>
        <p:nvSpPr>
          <p:cNvPr id="5" name="TextBox 4"/>
          <p:cNvSpPr txBox="1"/>
          <p:nvPr/>
        </p:nvSpPr>
        <p:spPr>
          <a:xfrm>
            <a:off x="7772400" y="2468880"/>
            <a:ext cx="3657600" cy="640080"/>
          </a:xfrm>
          <a:prstGeom prst="rect">
            <a:avLst/>
          </a:prstGeom>
          <a:noFill/>
        </p:spPr>
        <p:txBody>
          <a:bodyPr wrap="square">
            <a:spAutoFit/>
          </a:bodyPr>
          <a:lstStyle/>
          <a:p>
            <a:pPr algn="ctr"/>
            <a:r>
              <a:rPr lang="en-GB" sz="1600" b="0" i="0" noProof="1">
                <a:solidFill>
                  <a:srgbClr val="64748B"/>
                </a:solidFill>
                <a:latin typeface="Calibri"/>
              </a:rPr>
              <a:t>words per response
to wh-questions</a:t>
            </a:r>
          </a:p>
        </p:txBody>
      </p:sp>
      <p:sp>
        <p:nvSpPr>
          <p:cNvPr id="6" name="TextBox 5"/>
          <p:cNvSpPr txBox="1"/>
          <p:nvPr/>
        </p:nvSpPr>
        <p:spPr>
          <a:xfrm>
            <a:off x="9326880" y="3200400"/>
            <a:ext cx="914400" cy="457200"/>
          </a:xfrm>
          <a:prstGeom prst="rect">
            <a:avLst/>
          </a:prstGeom>
          <a:noFill/>
        </p:spPr>
        <p:txBody>
          <a:bodyPr wrap="square">
            <a:spAutoFit/>
          </a:bodyPr>
          <a:lstStyle/>
          <a:p>
            <a:pPr algn="ctr"/>
            <a:r>
              <a:rPr lang="en-GB" sz="1800" b="0" i="0" noProof="1">
                <a:solidFill>
                  <a:srgbClr val="64748B"/>
                </a:solidFill>
                <a:latin typeface="Georgia"/>
              </a:rPr>
              <a:t>vs.</a:t>
            </a:r>
          </a:p>
        </p:txBody>
      </p:sp>
      <p:sp>
        <p:nvSpPr>
          <p:cNvPr id="7" name="TextBox 6"/>
          <p:cNvSpPr txBox="1"/>
          <p:nvPr/>
        </p:nvSpPr>
        <p:spPr>
          <a:xfrm>
            <a:off x="7854045" y="3749039"/>
            <a:ext cx="3657600" cy="640080"/>
          </a:xfrm>
          <a:prstGeom prst="rect">
            <a:avLst/>
          </a:prstGeom>
          <a:noFill/>
        </p:spPr>
        <p:txBody>
          <a:bodyPr wrap="square">
            <a:spAutoFit/>
          </a:bodyPr>
          <a:lstStyle/>
          <a:p>
            <a:pPr algn="ctr"/>
            <a:r>
              <a:rPr lang="en-GB" sz="4000" b="1" i="0" noProof="1">
                <a:solidFill>
                  <a:srgbClr val="94A3B8"/>
                </a:solidFill>
                <a:latin typeface="Georgia"/>
              </a:rPr>
              <a:t>M = 1.87</a:t>
            </a:r>
          </a:p>
        </p:txBody>
      </p:sp>
      <p:sp>
        <p:nvSpPr>
          <p:cNvPr id="8" name="TextBox 7"/>
          <p:cNvSpPr txBox="1"/>
          <p:nvPr/>
        </p:nvSpPr>
        <p:spPr>
          <a:xfrm>
            <a:off x="7870374" y="4389120"/>
            <a:ext cx="3657600" cy="640080"/>
          </a:xfrm>
          <a:prstGeom prst="rect">
            <a:avLst/>
          </a:prstGeom>
          <a:noFill/>
        </p:spPr>
        <p:txBody>
          <a:bodyPr wrap="square">
            <a:spAutoFit/>
          </a:bodyPr>
          <a:lstStyle/>
          <a:p>
            <a:pPr algn="ctr"/>
            <a:r>
              <a:rPr lang="en-GB" sz="1600" b="0" i="0" noProof="1">
                <a:solidFill>
                  <a:srgbClr val="64748B"/>
                </a:solidFill>
                <a:latin typeface="Calibri"/>
              </a:rPr>
              <a:t>words per response
overall session average</a:t>
            </a:r>
          </a:p>
        </p:txBody>
      </p:sp>
      <p:sp>
        <p:nvSpPr>
          <p:cNvPr id="9" name="TextBox 8"/>
          <p:cNvSpPr txBox="1"/>
          <p:nvPr/>
        </p:nvSpPr>
        <p:spPr>
          <a:xfrm>
            <a:off x="8065321" y="5303520"/>
            <a:ext cx="4114800" cy="731520"/>
          </a:xfrm>
          <a:prstGeom prst="rect">
            <a:avLst/>
          </a:prstGeom>
          <a:noFill/>
        </p:spPr>
        <p:txBody>
          <a:bodyPr wrap="square">
            <a:spAutoFit/>
          </a:bodyPr>
          <a:lstStyle/>
          <a:p>
            <a:pPr algn="ctr"/>
            <a:r>
              <a:rPr lang="en-GB" sz="1400" b="0" i="1" noProof="1">
                <a:solidFill>
                  <a:srgbClr val="2D3A4A"/>
                </a:solidFill>
                <a:latin typeface="Calibri"/>
              </a:rPr>
              <a:t>For 28-month-olds, going from ~2 words to 2+ words
represents a meaningful increase in utterance complexity.</a:t>
            </a:r>
          </a:p>
        </p:txBody>
      </p:sp>
      <p:pic>
        <p:nvPicPr>
          <p:cNvPr id="10" name="Picture 9">
            <a:extLst>
              <a:ext uri="{FF2B5EF4-FFF2-40B4-BE49-F238E27FC236}">
                <a16:creationId xmlns:a16="http://schemas.microsoft.com/office/drawing/2014/main" id="{7F87D264-F4F5-01ED-D6DE-3F1D49FDAE49}"/>
              </a:ext>
            </a:extLst>
          </p:cNvPr>
          <p:cNvPicPr>
            <a:picLocks noChangeAspect="1"/>
          </p:cNvPicPr>
          <p:nvPr/>
        </p:nvPicPr>
        <p:blipFill>
          <a:blip r:embed="rId3"/>
          <a:stretch>
            <a:fillRect/>
          </a:stretch>
        </p:blipFill>
        <p:spPr>
          <a:xfrm>
            <a:off x="51635" y="1033576"/>
            <a:ext cx="8156192" cy="54374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a:extLst>
            <a:ext uri="{FF2B5EF4-FFF2-40B4-BE49-F238E27FC236}">
              <a16:creationId xmlns:a16="http://schemas.microsoft.com/office/drawing/2014/main" id="{F2AC150C-4AD1-7E66-24D0-781DD5F5DF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2116A4-7CDC-CC6A-B07F-F2B605579744}"/>
              </a:ext>
            </a:extLst>
          </p:cNvPr>
          <p:cNvSpPr txBox="1"/>
          <p:nvPr/>
        </p:nvSpPr>
        <p:spPr>
          <a:xfrm>
            <a:off x="121921" y="26383"/>
            <a:ext cx="11948160" cy="954107"/>
          </a:xfrm>
          <a:prstGeom prst="rect">
            <a:avLst/>
          </a:prstGeom>
          <a:noFill/>
        </p:spPr>
        <p:txBody>
          <a:bodyPr wrap="square">
            <a:spAutoFit/>
          </a:bodyPr>
          <a:lstStyle/>
          <a:p>
            <a:pPr algn="l"/>
            <a:r>
              <a:rPr lang="en-GB" sz="2800" b="1" noProof="1">
                <a:solidFill>
                  <a:srgbClr val="2D3A4A"/>
                </a:solidFill>
                <a:latin typeface="Georgia"/>
              </a:rPr>
              <a:t>The same can be seen in StoopsMontag:</a:t>
            </a:r>
          </a:p>
          <a:p>
            <a:pPr algn="l"/>
            <a:r>
              <a:rPr lang="en-GB" sz="2800" b="1" i="0" noProof="1">
                <a:solidFill>
                  <a:srgbClr val="2D3A4A"/>
                </a:solidFill>
                <a:latin typeface="Georgia"/>
              </a:rPr>
              <a:t>Child Responses to Caregiver WH Questions vs Session Overall</a:t>
            </a:r>
          </a:p>
        </p:txBody>
      </p:sp>
      <p:sp>
        <p:nvSpPr>
          <p:cNvPr id="4" name="TextBox 3">
            <a:extLst>
              <a:ext uri="{FF2B5EF4-FFF2-40B4-BE49-F238E27FC236}">
                <a16:creationId xmlns:a16="http://schemas.microsoft.com/office/drawing/2014/main" id="{18709B9A-E44D-1CF7-E0B4-281D0AC82E8F}"/>
              </a:ext>
            </a:extLst>
          </p:cNvPr>
          <p:cNvSpPr txBox="1"/>
          <p:nvPr/>
        </p:nvSpPr>
        <p:spPr>
          <a:xfrm>
            <a:off x="8130539" y="4456555"/>
            <a:ext cx="3657600" cy="707886"/>
          </a:xfrm>
          <a:prstGeom prst="rect">
            <a:avLst/>
          </a:prstGeom>
          <a:noFill/>
        </p:spPr>
        <p:txBody>
          <a:bodyPr wrap="square">
            <a:spAutoFit/>
          </a:bodyPr>
          <a:lstStyle/>
          <a:p>
            <a:pPr algn="ctr"/>
            <a:r>
              <a:rPr lang="en-GB" sz="4000" b="1" i="0" noProof="1">
                <a:solidFill>
                  <a:srgbClr val="0D9488"/>
                </a:solidFill>
                <a:latin typeface="Georgia"/>
              </a:rPr>
              <a:t>M = </a:t>
            </a:r>
            <a:r>
              <a:rPr lang="en-GB" sz="4000" b="1" noProof="1">
                <a:solidFill>
                  <a:srgbClr val="0D9488"/>
                </a:solidFill>
                <a:latin typeface="Georgia"/>
              </a:rPr>
              <a:t>4.09</a:t>
            </a:r>
            <a:endParaRPr lang="en-GB" sz="4000" b="1" i="0" noProof="1">
              <a:solidFill>
                <a:srgbClr val="0D9488"/>
              </a:solidFill>
              <a:latin typeface="Georgia"/>
            </a:endParaRPr>
          </a:p>
        </p:txBody>
      </p:sp>
      <p:sp>
        <p:nvSpPr>
          <p:cNvPr id="5" name="TextBox 4">
            <a:extLst>
              <a:ext uri="{FF2B5EF4-FFF2-40B4-BE49-F238E27FC236}">
                <a16:creationId xmlns:a16="http://schemas.microsoft.com/office/drawing/2014/main" id="{62C00653-067F-CBB8-D4B5-80BAA180149E}"/>
              </a:ext>
            </a:extLst>
          </p:cNvPr>
          <p:cNvSpPr txBox="1"/>
          <p:nvPr/>
        </p:nvSpPr>
        <p:spPr>
          <a:xfrm>
            <a:off x="8305801" y="6064849"/>
            <a:ext cx="3472543" cy="338554"/>
          </a:xfrm>
          <a:prstGeom prst="rect">
            <a:avLst/>
          </a:prstGeom>
          <a:noFill/>
        </p:spPr>
        <p:txBody>
          <a:bodyPr wrap="square">
            <a:spAutoFit/>
          </a:bodyPr>
          <a:lstStyle/>
          <a:p>
            <a:pPr algn="ctr"/>
            <a:r>
              <a:rPr lang="en-GB" sz="1600" b="0" i="0" noProof="1">
                <a:solidFill>
                  <a:srgbClr val="0D9488"/>
                </a:solidFill>
                <a:latin typeface="Calibri"/>
              </a:rPr>
              <a:t>words per response to wh-questions</a:t>
            </a:r>
          </a:p>
        </p:txBody>
      </p:sp>
      <p:sp>
        <p:nvSpPr>
          <p:cNvPr id="6" name="TextBox 5">
            <a:extLst>
              <a:ext uri="{FF2B5EF4-FFF2-40B4-BE49-F238E27FC236}">
                <a16:creationId xmlns:a16="http://schemas.microsoft.com/office/drawing/2014/main" id="{26FB176E-6433-6119-1B64-FFA25133397C}"/>
              </a:ext>
            </a:extLst>
          </p:cNvPr>
          <p:cNvSpPr txBox="1"/>
          <p:nvPr/>
        </p:nvSpPr>
        <p:spPr>
          <a:xfrm>
            <a:off x="9584872" y="3141531"/>
            <a:ext cx="914400" cy="523220"/>
          </a:xfrm>
          <a:prstGeom prst="rect">
            <a:avLst/>
          </a:prstGeom>
          <a:noFill/>
        </p:spPr>
        <p:txBody>
          <a:bodyPr wrap="square">
            <a:spAutoFit/>
          </a:bodyPr>
          <a:lstStyle/>
          <a:p>
            <a:pPr algn="ctr"/>
            <a:r>
              <a:rPr lang="en-GB" sz="2800" b="1" i="0" noProof="1">
                <a:latin typeface="Georgia"/>
              </a:rPr>
              <a:t>vs.</a:t>
            </a:r>
          </a:p>
        </p:txBody>
      </p:sp>
      <p:sp>
        <p:nvSpPr>
          <p:cNvPr id="7" name="TextBox 6">
            <a:extLst>
              <a:ext uri="{FF2B5EF4-FFF2-40B4-BE49-F238E27FC236}">
                <a16:creationId xmlns:a16="http://schemas.microsoft.com/office/drawing/2014/main" id="{BCDE04DC-74EB-A067-E38A-26987DDBE8E9}"/>
              </a:ext>
            </a:extLst>
          </p:cNvPr>
          <p:cNvSpPr txBox="1"/>
          <p:nvPr/>
        </p:nvSpPr>
        <p:spPr>
          <a:xfrm>
            <a:off x="8120744" y="5117684"/>
            <a:ext cx="3657600" cy="707886"/>
          </a:xfrm>
          <a:prstGeom prst="rect">
            <a:avLst/>
          </a:prstGeom>
          <a:noFill/>
        </p:spPr>
        <p:txBody>
          <a:bodyPr wrap="square">
            <a:spAutoFit/>
          </a:bodyPr>
          <a:lstStyle/>
          <a:p>
            <a:pPr algn="ctr"/>
            <a:r>
              <a:rPr lang="en-GB" sz="4000" b="1" i="0" noProof="1">
                <a:solidFill>
                  <a:srgbClr val="94A3B8"/>
                </a:solidFill>
                <a:latin typeface="Georgia"/>
              </a:rPr>
              <a:t>M = 2.15</a:t>
            </a:r>
          </a:p>
        </p:txBody>
      </p:sp>
      <p:sp>
        <p:nvSpPr>
          <p:cNvPr id="8" name="TextBox 7">
            <a:extLst>
              <a:ext uri="{FF2B5EF4-FFF2-40B4-BE49-F238E27FC236}">
                <a16:creationId xmlns:a16="http://schemas.microsoft.com/office/drawing/2014/main" id="{FAB4C1FA-1665-9538-D45B-91DA1030E646}"/>
              </a:ext>
            </a:extLst>
          </p:cNvPr>
          <p:cNvSpPr txBox="1"/>
          <p:nvPr/>
        </p:nvSpPr>
        <p:spPr>
          <a:xfrm>
            <a:off x="8227425" y="6304128"/>
            <a:ext cx="3842656" cy="338554"/>
          </a:xfrm>
          <a:prstGeom prst="rect">
            <a:avLst/>
          </a:prstGeom>
          <a:noFill/>
        </p:spPr>
        <p:txBody>
          <a:bodyPr wrap="square">
            <a:spAutoFit/>
          </a:bodyPr>
          <a:lstStyle/>
          <a:p>
            <a:pPr algn="ctr"/>
            <a:r>
              <a:rPr lang="en-GB" sz="1600" b="0" i="0" noProof="1">
                <a:solidFill>
                  <a:srgbClr val="64748B"/>
                </a:solidFill>
                <a:latin typeface="Calibri"/>
              </a:rPr>
              <a:t>words per response</a:t>
            </a:r>
            <a:r>
              <a:rPr lang="en-GB" sz="1600" noProof="1">
                <a:solidFill>
                  <a:srgbClr val="64748B"/>
                </a:solidFill>
                <a:latin typeface="Calibri"/>
              </a:rPr>
              <a:t> </a:t>
            </a:r>
            <a:r>
              <a:rPr lang="en-GB" sz="1600" b="0" i="0" noProof="1">
                <a:solidFill>
                  <a:srgbClr val="64748B"/>
                </a:solidFill>
                <a:latin typeface="Calibri"/>
              </a:rPr>
              <a:t>overall session average</a:t>
            </a:r>
          </a:p>
        </p:txBody>
      </p:sp>
      <p:pic>
        <p:nvPicPr>
          <p:cNvPr id="28" name="Picture 27">
            <a:extLst>
              <a:ext uri="{FF2B5EF4-FFF2-40B4-BE49-F238E27FC236}">
                <a16:creationId xmlns:a16="http://schemas.microsoft.com/office/drawing/2014/main" id="{3887FCFD-E7E8-4038-320F-6495406DF040}"/>
              </a:ext>
            </a:extLst>
          </p:cNvPr>
          <p:cNvPicPr>
            <a:picLocks noChangeAspect="1"/>
          </p:cNvPicPr>
          <p:nvPr/>
        </p:nvPicPr>
        <p:blipFill>
          <a:blip r:embed="rId3"/>
          <a:stretch>
            <a:fillRect/>
          </a:stretch>
        </p:blipFill>
        <p:spPr>
          <a:xfrm>
            <a:off x="533401" y="1221919"/>
            <a:ext cx="7772400" cy="2590800"/>
          </a:xfrm>
          <a:prstGeom prst="rect">
            <a:avLst/>
          </a:prstGeom>
        </p:spPr>
      </p:pic>
      <p:pic>
        <p:nvPicPr>
          <p:cNvPr id="30" name="Picture 29">
            <a:extLst>
              <a:ext uri="{FF2B5EF4-FFF2-40B4-BE49-F238E27FC236}">
                <a16:creationId xmlns:a16="http://schemas.microsoft.com/office/drawing/2014/main" id="{D36395C1-7592-6600-2AE8-8658B82B5D3A}"/>
              </a:ext>
            </a:extLst>
          </p:cNvPr>
          <p:cNvPicPr>
            <a:picLocks noChangeAspect="1"/>
          </p:cNvPicPr>
          <p:nvPr/>
        </p:nvPicPr>
        <p:blipFill>
          <a:blip r:embed="rId4"/>
          <a:stretch>
            <a:fillRect/>
          </a:stretch>
        </p:blipFill>
        <p:spPr>
          <a:xfrm>
            <a:off x="533401" y="4194814"/>
            <a:ext cx="7772400" cy="2590800"/>
          </a:xfrm>
          <a:prstGeom prst="rect">
            <a:avLst/>
          </a:prstGeom>
        </p:spPr>
      </p:pic>
      <p:sp>
        <p:nvSpPr>
          <p:cNvPr id="31" name="TextBox 30">
            <a:extLst>
              <a:ext uri="{FF2B5EF4-FFF2-40B4-BE49-F238E27FC236}">
                <a16:creationId xmlns:a16="http://schemas.microsoft.com/office/drawing/2014/main" id="{E47C29A5-C3D0-9080-716D-B44D9D8157AB}"/>
              </a:ext>
            </a:extLst>
          </p:cNvPr>
          <p:cNvSpPr txBox="1"/>
          <p:nvPr/>
        </p:nvSpPr>
        <p:spPr>
          <a:xfrm>
            <a:off x="9444988" y="1248899"/>
            <a:ext cx="1037408" cy="400110"/>
          </a:xfrm>
          <a:prstGeom prst="rect">
            <a:avLst/>
          </a:prstGeom>
          <a:noFill/>
        </p:spPr>
        <p:txBody>
          <a:bodyPr wrap="square" rtlCol="0">
            <a:spAutoFit/>
          </a:bodyPr>
          <a:lstStyle/>
          <a:p>
            <a:r>
              <a:rPr lang="en-GB" sz="2000" b="1" noProof="1"/>
              <a:t>OWNED</a:t>
            </a:r>
          </a:p>
        </p:txBody>
      </p:sp>
      <p:sp>
        <p:nvSpPr>
          <p:cNvPr id="32" name="TextBox 31">
            <a:extLst>
              <a:ext uri="{FF2B5EF4-FFF2-40B4-BE49-F238E27FC236}">
                <a16:creationId xmlns:a16="http://schemas.microsoft.com/office/drawing/2014/main" id="{CC1F2160-9F4A-8E17-788B-30C746FB6A25}"/>
              </a:ext>
            </a:extLst>
          </p:cNvPr>
          <p:cNvSpPr txBox="1"/>
          <p:nvPr/>
        </p:nvSpPr>
        <p:spPr>
          <a:xfrm>
            <a:off x="9680938" y="4071125"/>
            <a:ext cx="722267" cy="400110"/>
          </a:xfrm>
          <a:prstGeom prst="rect">
            <a:avLst/>
          </a:prstGeom>
          <a:noFill/>
        </p:spPr>
        <p:txBody>
          <a:bodyPr wrap="square" rtlCol="0">
            <a:spAutoFit/>
          </a:bodyPr>
          <a:lstStyle/>
          <a:p>
            <a:r>
              <a:rPr lang="en-GB" sz="2000" b="1" noProof="1"/>
              <a:t>NEW</a:t>
            </a:r>
          </a:p>
        </p:txBody>
      </p:sp>
      <p:sp>
        <p:nvSpPr>
          <p:cNvPr id="33" name="TextBox 32">
            <a:extLst>
              <a:ext uri="{FF2B5EF4-FFF2-40B4-BE49-F238E27FC236}">
                <a16:creationId xmlns:a16="http://schemas.microsoft.com/office/drawing/2014/main" id="{40BD64B2-08FE-3822-5503-9D2B2E0C1C5D}"/>
              </a:ext>
            </a:extLst>
          </p:cNvPr>
          <p:cNvSpPr txBox="1"/>
          <p:nvPr/>
        </p:nvSpPr>
        <p:spPr>
          <a:xfrm>
            <a:off x="8134892" y="1530346"/>
            <a:ext cx="3657600" cy="707886"/>
          </a:xfrm>
          <a:prstGeom prst="rect">
            <a:avLst/>
          </a:prstGeom>
          <a:noFill/>
        </p:spPr>
        <p:txBody>
          <a:bodyPr wrap="square">
            <a:spAutoFit/>
          </a:bodyPr>
          <a:lstStyle/>
          <a:p>
            <a:pPr algn="ctr"/>
            <a:r>
              <a:rPr lang="en-GB" sz="4000" b="1" i="0" noProof="1">
                <a:solidFill>
                  <a:srgbClr val="0D9488"/>
                </a:solidFill>
                <a:latin typeface="Georgia"/>
              </a:rPr>
              <a:t>M = 3.</a:t>
            </a:r>
            <a:r>
              <a:rPr lang="en-GB" sz="4000" b="1" noProof="1">
                <a:solidFill>
                  <a:srgbClr val="0D9488"/>
                </a:solidFill>
                <a:latin typeface="Georgia"/>
              </a:rPr>
              <a:t>53</a:t>
            </a:r>
            <a:endParaRPr lang="en-GB" sz="4000" b="1" i="0" noProof="1">
              <a:solidFill>
                <a:srgbClr val="0D9488"/>
              </a:solidFill>
              <a:latin typeface="Georgia"/>
            </a:endParaRPr>
          </a:p>
        </p:txBody>
      </p:sp>
      <p:sp>
        <p:nvSpPr>
          <p:cNvPr id="36" name="TextBox 35">
            <a:extLst>
              <a:ext uri="{FF2B5EF4-FFF2-40B4-BE49-F238E27FC236}">
                <a16:creationId xmlns:a16="http://schemas.microsoft.com/office/drawing/2014/main" id="{AB2E8704-B2E6-22A8-A350-129E95F346ED}"/>
              </a:ext>
            </a:extLst>
          </p:cNvPr>
          <p:cNvSpPr txBox="1"/>
          <p:nvPr/>
        </p:nvSpPr>
        <p:spPr>
          <a:xfrm>
            <a:off x="8120744" y="2174182"/>
            <a:ext cx="3657600" cy="707886"/>
          </a:xfrm>
          <a:prstGeom prst="rect">
            <a:avLst/>
          </a:prstGeom>
          <a:noFill/>
        </p:spPr>
        <p:txBody>
          <a:bodyPr wrap="square">
            <a:spAutoFit/>
          </a:bodyPr>
          <a:lstStyle/>
          <a:p>
            <a:pPr algn="ctr"/>
            <a:r>
              <a:rPr lang="en-GB" sz="4000" b="1" i="0" noProof="1">
                <a:solidFill>
                  <a:srgbClr val="94A3B8"/>
                </a:solidFill>
                <a:latin typeface="Georgia"/>
              </a:rPr>
              <a:t>M = 1</a:t>
            </a:r>
            <a:r>
              <a:rPr lang="en-GB" sz="4000" b="1" noProof="1">
                <a:solidFill>
                  <a:srgbClr val="94A3B8"/>
                </a:solidFill>
                <a:latin typeface="Georgia"/>
              </a:rPr>
              <a:t>.87</a:t>
            </a:r>
            <a:endParaRPr lang="en-GB" sz="4000" b="1" i="0" noProof="1">
              <a:solidFill>
                <a:srgbClr val="94A3B8"/>
              </a:solidFill>
              <a:latin typeface="Georgia"/>
            </a:endParaRPr>
          </a:p>
        </p:txBody>
      </p:sp>
      <p:sp>
        <p:nvSpPr>
          <p:cNvPr id="3" name="TextBox 2">
            <a:extLst>
              <a:ext uri="{FF2B5EF4-FFF2-40B4-BE49-F238E27FC236}">
                <a16:creationId xmlns:a16="http://schemas.microsoft.com/office/drawing/2014/main" id="{5EFB9709-99E2-4A86-B157-916D7B2CE9D4}"/>
              </a:ext>
            </a:extLst>
          </p:cNvPr>
          <p:cNvSpPr txBox="1"/>
          <p:nvPr/>
        </p:nvSpPr>
        <p:spPr>
          <a:xfrm>
            <a:off x="171447" y="942970"/>
            <a:ext cx="6553333" cy="338554"/>
          </a:xfrm>
          <a:prstGeom prst="rect">
            <a:avLst/>
          </a:prstGeom>
          <a:noFill/>
        </p:spPr>
        <p:txBody>
          <a:bodyPr wrap="square" rtlCol="0">
            <a:spAutoFit/>
          </a:bodyPr>
          <a:lstStyle/>
          <a:p>
            <a:r>
              <a:rPr lang="en-GB" sz="1600" dirty="0"/>
              <a:t>Short = &lt; 500 words; Medium = 500-1000 words; Long = &gt;1000 words</a:t>
            </a:r>
          </a:p>
        </p:txBody>
      </p:sp>
    </p:spTree>
    <p:extLst>
      <p:ext uri="{BB962C8B-B14F-4D97-AF65-F5344CB8AC3E}">
        <p14:creationId xmlns:p14="http://schemas.microsoft.com/office/powerpoint/2010/main" val="1379660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315200" cy="640080"/>
          </a:xfrm>
          <a:prstGeom prst="rect">
            <a:avLst/>
          </a:prstGeom>
          <a:noFill/>
        </p:spPr>
        <p:txBody>
          <a:bodyPr wrap="square">
            <a:spAutoFit/>
          </a:bodyPr>
          <a:lstStyle/>
          <a:p>
            <a:pPr algn="l"/>
            <a:r>
              <a:rPr lang="en-GB" sz="3600" b="1" i="0" noProof="1">
                <a:solidFill>
                  <a:srgbClr val="FFFFFF"/>
                </a:solidFill>
                <a:latin typeface="Georgia"/>
              </a:rPr>
              <a:t>What This Means</a:t>
            </a:r>
          </a:p>
        </p:txBody>
      </p:sp>
      <p:sp>
        <p:nvSpPr>
          <p:cNvPr id="3" name="Rectangle 2"/>
          <p:cNvSpPr/>
          <p:nvPr/>
        </p:nvSpPr>
        <p:spPr>
          <a:xfrm>
            <a:off x="731520" y="1188720"/>
            <a:ext cx="3200400" cy="3200400"/>
          </a:xfrm>
          <a:prstGeom prst="rect">
            <a:avLst/>
          </a:prstGeom>
          <a:solidFill>
            <a:srgbClr val="0A6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4" name="TextBox 3"/>
          <p:cNvSpPr txBox="1"/>
          <p:nvPr/>
        </p:nvSpPr>
        <p:spPr>
          <a:xfrm>
            <a:off x="914400" y="1371600"/>
            <a:ext cx="2834640" cy="914400"/>
          </a:xfrm>
          <a:prstGeom prst="rect">
            <a:avLst/>
          </a:prstGeom>
          <a:noFill/>
        </p:spPr>
        <p:txBody>
          <a:bodyPr wrap="square">
            <a:spAutoFit/>
          </a:bodyPr>
          <a:lstStyle/>
          <a:p>
            <a:pPr algn="ctr"/>
            <a:r>
              <a:rPr lang="en-GB" sz="2200" b="1" i="0" noProof="1">
                <a:solidFill>
                  <a:srgbClr val="FFFFFF"/>
                </a:solidFill>
                <a:latin typeface="Georgia"/>
              </a:rPr>
              <a:t>WH Questions
→ Longer Speech</a:t>
            </a:r>
          </a:p>
        </p:txBody>
      </p:sp>
      <p:sp>
        <p:nvSpPr>
          <p:cNvPr id="5" name="TextBox 4"/>
          <p:cNvSpPr txBox="1"/>
          <p:nvPr/>
        </p:nvSpPr>
        <p:spPr>
          <a:xfrm>
            <a:off x="1828800" y="2377440"/>
            <a:ext cx="1371600" cy="914400"/>
          </a:xfrm>
          <a:prstGeom prst="rect">
            <a:avLst/>
          </a:prstGeom>
          <a:noFill/>
        </p:spPr>
        <p:txBody>
          <a:bodyPr wrap="square">
            <a:spAutoFit/>
          </a:bodyPr>
          <a:lstStyle/>
          <a:p>
            <a:pPr algn="ctr"/>
            <a:r>
              <a:rPr lang="en-GB" sz="6000" b="1" i="0" noProof="1">
                <a:solidFill>
                  <a:srgbClr val="F9C74F"/>
                </a:solidFill>
                <a:latin typeface="Calibri"/>
              </a:rPr>
              <a:t>✓</a:t>
            </a:r>
          </a:p>
        </p:txBody>
      </p:sp>
      <p:sp>
        <p:nvSpPr>
          <p:cNvPr id="6" name="TextBox 5"/>
          <p:cNvSpPr txBox="1"/>
          <p:nvPr/>
        </p:nvSpPr>
        <p:spPr>
          <a:xfrm>
            <a:off x="914400" y="3383280"/>
            <a:ext cx="2834640" cy="457200"/>
          </a:xfrm>
          <a:prstGeom prst="rect">
            <a:avLst/>
          </a:prstGeom>
          <a:noFill/>
        </p:spPr>
        <p:txBody>
          <a:bodyPr wrap="square">
            <a:spAutoFit/>
          </a:bodyPr>
          <a:lstStyle/>
          <a:p>
            <a:pPr algn="ctr"/>
            <a:r>
              <a:rPr lang="en-GB" sz="1600" b="0" i="0" noProof="1">
                <a:solidFill>
                  <a:srgbClr val="A0CEC5"/>
                </a:solidFill>
                <a:latin typeface="Calibri"/>
              </a:rPr>
              <a:t>M = 2.15 vs. 1.87</a:t>
            </a:r>
          </a:p>
        </p:txBody>
      </p:sp>
      <p:sp>
        <p:nvSpPr>
          <p:cNvPr id="7" name="Rectangle 6"/>
          <p:cNvSpPr/>
          <p:nvPr/>
        </p:nvSpPr>
        <p:spPr>
          <a:xfrm>
            <a:off x="4480560" y="1188720"/>
            <a:ext cx="3200400" cy="3200400"/>
          </a:xfrm>
          <a:prstGeom prst="rect">
            <a:avLst/>
          </a:prstGeom>
          <a:solidFill>
            <a:srgbClr val="0A6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8" name="TextBox 7"/>
          <p:cNvSpPr txBox="1"/>
          <p:nvPr/>
        </p:nvSpPr>
        <p:spPr>
          <a:xfrm>
            <a:off x="4663440" y="1371600"/>
            <a:ext cx="2834640" cy="914400"/>
          </a:xfrm>
          <a:prstGeom prst="rect">
            <a:avLst/>
          </a:prstGeom>
          <a:noFill/>
        </p:spPr>
        <p:txBody>
          <a:bodyPr wrap="square">
            <a:spAutoFit/>
          </a:bodyPr>
          <a:lstStyle/>
          <a:p>
            <a:pPr algn="ctr"/>
            <a:r>
              <a:rPr lang="en-GB" sz="2200" b="1" i="0" noProof="1">
                <a:solidFill>
                  <a:srgbClr val="FFFFFF"/>
                </a:solidFill>
                <a:latin typeface="Georgia"/>
              </a:rPr>
              <a:t>Books = Most
WH Questions</a:t>
            </a:r>
          </a:p>
        </p:txBody>
      </p:sp>
      <p:sp>
        <p:nvSpPr>
          <p:cNvPr id="9" name="TextBox 8"/>
          <p:cNvSpPr txBox="1"/>
          <p:nvPr/>
        </p:nvSpPr>
        <p:spPr>
          <a:xfrm>
            <a:off x="5120640" y="2377440"/>
            <a:ext cx="1920240" cy="914400"/>
          </a:xfrm>
          <a:prstGeom prst="rect">
            <a:avLst/>
          </a:prstGeom>
          <a:noFill/>
        </p:spPr>
        <p:txBody>
          <a:bodyPr wrap="square">
            <a:spAutoFit/>
          </a:bodyPr>
          <a:lstStyle/>
          <a:p>
            <a:pPr algn="ctr"/>
            <a:r>
              <a:rPr lang="en-GB" sz="4800" b="1" i="0" noProof="1">
                <a:solidFill>
                  <a:srgbClr val="F9C74F"/>
                </a:solidFill>
                <a:latin typeface="Georgia"/>
              </a:rPr>
              <a:t>59%</a:t>
            </a:r>
          </a:p>
        </p:txBody>
      </p:sp>
      <p:sp>
        <p:nvSpPr>
          <p:cNvPr id="10" name="TextBox 9"/>
          <p:cNvSpPr txBox="1"/>
          <p:nvPr/>
        </p:nvSpPr>
        <p:spPr>
          <a:xfrm>
            <a:off x="4663440" y="3383280"/>
            <a:ext cx="2834640" cy="457200"/>
          </a:xfrm>
          <a:prstGeom prst="rect">
            <a:avLst/>
          </a:prstGeom>
          <a:noFill/>
        </p:spPr>
        <p:txBody>
          <a:bodyPr wrap="square">
            <a:spAutoFit/>
          </a:bodyPr>
          <a:lstStyle/>
          <a:p>
            <a:pPr algn="ctr"/>
            <a:r>
              <a:rPr lang="en-GB" sz="1600" b="0" i="0" noProof="1">
                <a:solidFill>
                  <a:srgbClr val="A0CEC5"/>
                </a:solidFill>
                <a:latin typeface="Calibri"/>
              </a:rPr>
              <a:t>No special training needed</a:t>
            </a:r>
          </a:p>
        </p:txBody>
      </p:sp>
      <p:sp>
        <p:nvSpPr>
          <p:cNvPr id="11" name="Rectangle 10"/>
          <p:cNvSpPr/>
          <p:nvPr/>
        </p:nvSpPr>
        <p:spPr>
          <a:xfrm>
            <a:off x="8229600" y="1188720"/>
            <a:ext cx="3200400" cy="3200400"/>
          </a:xfrm>
          <a:prstGeom prst="rect">
            <a:avLst/>
          </a:prstGeom>
          <a:solidFill>
            <a:srgbClr val="0A6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2" name="TextBox 11"/>
          <p:cNvSpPr txBox="1"/>
          <p:nvPr/>
        </p:nvSpPr>
        <p:spPr>
          <a:xfrm>
            <a:off x="8412480" y="1371600"/>
            <a:ext cx="2834640" cy="914400"/>
          </a:xfrm>
          <a:prstGeom prst="rect">
            <a:avLst/>
          </a:prstGeom>
          <a:noFill/>
        </p:spPr>
        <p:txBody>
          <a:bodyPr wrap="square">
            <a:spAutoFit/>
          </a:bodyPr>
          <a:lstStyle/>
          <a:p>
            <a:pPr algn="ctr"/>
            <a:r>
              <a:rPr lang="en-GB" sz="2200" b="1" i="0" noProof="1">
                <a:solidFill>
                  <a:srgbClr val="FFFFFF"/>
                </a:solidFill>
                <a:latin typeface="Georgia"/>
              </a:rPr>
              <a:t>Consistent
Across Settings</a:t>
            </a:r>
          </a:p>
        </p:txBody>
      </p:sp>
      <p:sp>
        <p:nvSpPr>
          <p:cNvPr id="13" name="TextBox 12"/>
          <p:cNvSpPr txBox="1"/>
          <p:nvPr/>
        </p:nvSpPr>
        <p:spPr>
          <a:xfrm>
            <a:off x="8778240" y="2377440"/>
            <a:ext cx="2103120" cy="914400"/>
          </a:xfrm>
          <a:prstGeom prst="rect">
            <a:avLst/>
          </a:prstGeom>
          <a:noFill/>
        </p:spPr>
        <p:txBody>
          <a:bodyPr wrap="square">
            <a:spAutoFit/>
          </a:bodyPr>
          <a:lstStyle/>
          <a:p>
            <a:pPr algn="ctr"/>
            <a:r>
              <a:rPr lang="en-GB" sz="3000" b="1" i="0" noProof="1">
                <a:solidFill>
                  <a:srgbClr val="F9C74F"/>
                </a:solidFill>
                <a:latin typeface="Georgia"/>
              </a:rPr>
              <a:t>Lab ✓
Home ✓</a:t>
            </a:r>
          </a:p>
        </p:txBody>
      </p:sp>
      <p:sp>
        <p:nvSpPr>
          <p:cNvPr id="14" name="TextBox 13"/>
          <p:cNvSpPr txBox="1"/>
          <p:nvPr/>
        </p:nvSpPr>
        <p:spPr>
          <a:xfrm>
            <a:off x="8412480" y="3383280"/>
            <a:ext cx="2834640" cy="457200"/>
          </a:xfrm>
          <a:prstGeom prst="rect">
            <a:avLst/>
          </a:prstGeom>
          <a:noFill/>
        </p:spPr>
        <p:txBody>
          <a:bodyPr wrap="square">
            <a:spAutoFit/>
          </a:bodyPr>
          <a:lstStyle/>
          <a:p>
            <a:pPr algn="ctr"/>
            <a:r>
              <a:rPr lang="en-GB" sz="1600" b="0" i="0" noProof="1">
                <a:solidFill>
                  <a:srgbClr val="A0CEC5"/>
                </a:solidFill>
                <a:latin typeface="Calibri"/>
              </a:rPr>
              <a:t>Bates + Stoops et al.</a:t>
            </a:r>
          </a:p>
        </p:txBody>
      </p:sp>
      <p:sp>
        <p:nvSpPr>
          <p:cNvPr id="15" name="Rectangle 14"/>
          <p:cNvSpPr/>
          <p:nvPr/>
        </p:nvSpPr>
        <p:spPr>
          <a:xfrm>
            <a:off x="731520" y="4824330"/>
            <a:ext cx="10698480" cy="1371600"/>
          </a:xfrm>
          <a:prstGeom prst="rect">
            <a:avLst/>
          </a:prstGeom>
          <a:solidFill>
            <a:srgbClr val="04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16" name="TextBox 15"/>
          <p:cNvSpPr txBox="1"/>
          <p:nvPr/>
        </p:nvSpPr>
        <p:spPr>
          <a:xfrm>
            <a:off x="1097280" y="4937760"/>
            <a:ext cx="2743200" cy="365760"/>
          </a:xfrm>
          <a:prstGeom prst="rect">
            <a:avLst/>
          </a:prstGeom>
          <a:noFill/>
        </p:spPr>
        <p:txBody>
          <a:bodyPr wrap="square">
            <a:spAutoFit/>
          </a:bodyPr>
          <a:lstStyle/>
          <a:p>
            <a:pPr algn="l"/>
            <a:r>
              <a:rPr lang="en-GB" sz="1600" b="1" i="0" noProof="1">
                <a:solidFill>
                  <a:srgbClr val="F9C74F"/>
                </a:solidFill>
                <a:latin typeface="Calibri"/>
              </a:rPr>
              <a:t>Takeaway for parents:</a:t>
            </a:r>
          </a:p>
        </p:txBody>
      </p:sp>
      <p:sp>
        <p:nvSpPr>
          <p:cNvPr id="17" name="TextBox 16"/>
          <p:cNvSpPr txBox="1"/>
          <p:nvPr/>
        </p:nvSpPr>
        <p:spPr>
          <a:xfrm>
            <a:off x="1097280" y="5303520"/>
            <a:ext cx="9875520" cy="640080"/>
          </a:xfrm>
          <a:prstGeom prst="rect">
            <a:avLst/>
          </a:prstGeom>
          <a:noFill/>
        </p:spPr>
        <p:txBody>
          <a:bodyPr wrap="square">
            <a:spAutoFit/>
          </a:bodyPr>
          <a:lstStyle/>
          <a:p>
            <a:pPr algn="l"/>
            <a:r>
              <a:rPr lang="en-GB" sz="1800" b="0" i="0" noProof="1">
                <a:solidFill>
                  <a:srgbClr val="FFFFFF"/>
                </a:solidFill>
                <a:latin typeface="Calibri"/>
              </a:rPr>
              <a:t>Just pick up a book and engage with your child. The questions come naturally,
and those questions help your child produce richer, more complex language.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p:cNvGrpSpPr/>
        <p:nvPr/>
      </p:nvGrpSpPr>
      <p:grpSpPr>
        <a:xfrm>
          <a:off x="0" y="0"/>
          <a:ext cx="0" cy="0"/>
          <a:chOff x="0" y="0"/>
          <a:chExt cx="0" cy="0"/>
        </a:xfrm>
      </p:grpSpPr>
      <p:sp>
        <p:nvSpPr>
          <p:cNvPr id="2" name="TextBox 1"/>
          <p:cNvSpPr txBox="1"/>
          <p:nvPr/>
        </p:nvSpPr>
        <p:spPr>
          <a:xfrm>
            <a:off x="1371600" y="1097280"/>
            <a:ext cx="9418320" cy="1097280"/>
          </a:xfrm>
          <a:prstGeom prst="rect">
            <a:avLst/>
          </a:prstGeom>
          <a:noFill/>
        </p:spPr>
        <p:txBody>
          <a:bodyPr wrap="square">
            <a:spAutoFit/>
          </a:bodyPr>
          <a:lstStyle/>
          <a:p>
            <a:pPr algn="ctr"/>
            <a:r>
              <a:rPr lang="en-GB" sz="5200" b="1" i="0" noProof="1">
                <a:solidFill>
                  <a:srgbClr val="FFFFFF"/>
                </a:solidFill>
                <a:latin typeface="Georgia"/>
              </a:rPr>
              <a:t>Thank You!</a:t>
            </a:r>
          </a:p>
        </p:txBody>
      </p:sp>
      <p:sp>
        <p:nvSpPr>
          <p:cNvPr id="3" name="Rectangle 2"/>
          <p:cNvSpPr/>
          <p:nvPr/>
        </p:nvSpPr>
        <p:spPr>
          <a:xfrm>
            <a:off x="4572000" y="2286000"/>
            <a:ext cx="301752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4" name="TextBox 3"/>
          <p:cNvSpPr txBox="1"/>
          <p:nvPr/>
        </p:nvSpPr>
        <p:spPr>
          <a:xfrm>
            <a:off x="1371600" y="2560320"/>
            <a:ext cx="9418320" cy="548640"/>
          </a:xfrm>
          <a:prstGeom prst="rect">
            <a:avLst/>
          </a:prstGeom>
          <a:noFill/>
        </p:spPr>
        <p:txBody>
          <a:bodyPr wrap="square">
            <a:spAutoFit/>
          </a:bodyPr>
          <a:lstStyle/>
          <a:p>
            <a:pPr algn="ctr"/>
            <a:r>
              <a:rPr lang="en-GB" sz="2400" b="0" i="1" noProof="1">
                <a:solidFill>
                  <a:srgbClr val="F9C74F"/>
                </a:solidFill>
                <a:latin typeface="Georgia"/>
              </a:rPr>
              <a:t>Questions?</a:t>
            </a:r>
          </a:p>
        </p:txBody>
      </p:sp>
      <p:sp>
        <p:nvSpPr>
          <p:cNvPr id="5" name="TextBox 4"/>
          <p:cNvSpPr txBox="1"/>
          <p:nvPr/>
        </p:nvSpPr>
        <p:spPr>
          <a:xfrm>
            <a:off x="1371600" y="3474720"/>
            <a:ext cx="9418320" cy="365760"/>
          </a:xfrm>
          <a:prstGeom prst="rect">
            <a:avLst/>
          </a:prstGeom>
          <a:noFill/>
        </p:spPr>
        <p:txBody>
          <a:bodyPr wrap="square">
            <a:spAutoFit/>
          </a:bodyPr>
          <a:lstStyle/>
          <a:p>
            <a:pPr algn="ctr"/>
            <a:r>
              <a:rPr lang="en-GB" sz="1600" b="0" i="0" noProof="1">
                <a:solidFill>
                  <a:srgbClr val="FFFFFF"/>
                </a:solidFill>
                <a:latin typeface="Calibri"/>
              </a:rPr>
              <a:t>Mentors: Dr. Jessica Montag &amp; Dr. Anastasia Stoops</a:t>
            </a:r>
          </a:p>
        </p:txBody>
      </p:sp>
      <p:sp>
        <p:nvSpPr>
          <p:cNvPr id="6" name="TextBox 5"/>
          <p:cNvSpPr txBox="1"/>
          <p:nvPr/>
        </p:nvSpPr>
        <p:spPr>
          <a:xfrm>
            <a:off x="1371600" y="3931920"/>
            <a:ext cx="9418320" cy="365760"/>
          </a:xfrm>
          <a:prstGeom prst="rect">
            <a:avLst/>
          </a:prstGeom>
          <a:noFill/>
        </p:spPr>
        <p:txBody>
          <a:bodyPr wrap="square">
            <a:spAutoFit/>
          </a:bodyPr>
          <a:lstStyle/>
          <a:p>
            <a:pPr algn="ctr"/>
            <a:r>
              <a:rPr lang="en-GB" sz="1400" b="0" i="0" noProof="1">
                <a:solidFill>
                  <a:srgbClr val="84B59F"/>
                </a:solidFill>
                <a:latin typeface="Calibri"/>
              </a:rPr>
              <a:t>Learning and Language Lab</a:t>
            </a:r>
          </a:p>
        </p:txBody>
      </p:sp>
      <p:sp>
        <p:nvSpPr>
          <p:cNvPr id="7" name="Rectangle 6"/>
          <p:cNvSpPr/>
          <p:nvPr/>
        </p:nvSpPr>
        <p:spPr>
          <a:xfrm>
            <a:off x="1371600" y="4572000"/>
            <a:ext cx="9418320" cy="1645920"/>
          </a:xfrm>
          <a:prstGeom prst="rect">
            <a:avLst/>
          </a:prstGeom>
          <a:solidFill>
            <a:srgbClr val="04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1"/>
          </a:p>
        </p:txBody>
      </p:sp>
      <p:sp>
        <p:nvSpPr>
          <p:cNvPr id="8" name="TextBox 7"/>
          <p:cNvSpPr txBox="1"/>
          <p:nvPr/>
        </p:nvSpPr>
        <p:spPr>
          <a:xfrm>
            <a:off x="1645920" y="4663440"/>
            <a:ext cx="2743200" cy="274320"/>
          </a:xfrm>
          <a:prstGeom prst="rect">
            <a:avLst/>
          </a:prstGeom>
          <a:noFill/>
        </p:spPr>
        <p:txBody>
          <a:bodyPr wrap="square">
            <a:spAutoFit/>
          </a:bodyPr>
          <a:lstStyle/>
          <a:p>
            <a:pPr algn="l"/>
            <a:r>
              <a:rPr lang="en-GB" sz="1200" b="1" i="0" noProof="1">
                <a:solidFill>
                  <a:srgbClr val="F9C74F"/>
                </a:solidFill>
                <a:latin typeface="Calibri"/>
              </a:rPr>
              <a:t>Acknowledgments</a:t>
            </a:r>
          </a:p>
        </p:txBody>
      </p:sp>
      <p:sp>
        <p:nvSpPr>
          <p:cNvPr id="9" name="TextBox 8"/>
          <p:cNvSpPr txBox="1"/>
          <p:nvPr/>
        </p:nvSpPr>
        <p:spPr>
          <a:xfrm>
            <a:off x="1645920" y="4937760"/>
            <a:ext cx="8686800" cy="548640"/>
          </a:xfrm>
          <a:prstGeom prst="rect">
            <a:avLst/>
          </a:prstGeom>
          <a:noFill/>
        </p:spPr>
        <p:txBody>
          <a:bodyPr wrap="square">
            <a:spAutoFit/>
          </a:bodyPr>
          <a:lstStyle/>
          <a:p>
            <a:pPr algn="l"/>
            <a:r>
              <a:rPr lang="en-GB" sz="1200" b="0" i="0" noProof="1">
                <a:solidFill>
                  <a:srgbClr val="A0CEC5"/>
                </a:solidFill>
                <a:latin typeface="Calibri"/>
              </a:rPr>
              <a:t>This work was supported by NIH Grant R03 HD096157, NSF Grant BCS-1749594,
and a James S. McDonnell Foundation Scholar Award.</a:t>
            </a:r>
          </a:p>
        </p:txBody>
      </p:sp>
      <p:pic>
        <p:nvPicPr>
          <p:cNvPr id="3076" name="Picture 4" descr="National Science Foundation - Wikipedia">
            <a:extLst>
              <a:ext uri="{FF2B5EF4-FFF2-40B4-BE49-F238E27FC236}">
                <a16:creationId xmlns:a16="http://schemas.microsoft.com/office/drawing/2014/main" id="{2F26CB18-D171-DAA9-C4D1-08ED89CEE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942" y="5394960"/>
            <a:ext cx="785661" cy="78803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E4A706E8-262F-ED24-4786-97291E147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5521327"/>
            <a:ext cx="752167" cy="66166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roposals — JSMF">
            <a:extLst>
              <a:ext uri="{FF2B5EF4-FFF2-40B4-BE49-F238E27FC236}">
                <a16:creationId xmlns:a16="http://schemas.microsoft.com/office/drawing/2014/main" id="{8FDD1E73-6F71-58B4-380F-CD8F83C973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383" y="5423620"/>
            <a:ext cx="937146" cy="70286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C9CF0783-F741-74ED-0ADC-AF0050ABB46A}"/>
              </a:ext>
            </a:extLst>
          </p:cNvPr>
          <p:cNvPicPr>
            <a:picLocks noChangeAspect="1"/>
          </p:cNvPicPr>
          <p:nvPr/>
        </p:nvPicPr>
        <p:blipFill>
          <a:blip r:embed="rId6"/>
          <a:stretch>
            <a:fillRect/>
          </a:stretch>
        </p:blipFill>
        <p:spPr>
          <a:xfrm>
            <a:off x="5946762" y="5342578"/>
            <a:ext cx="4341925" cy="78390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999</TotalTime>
  <Words>3077</Words>
  <Application>Microsoft Macintosh PowerPoint</Application>
  <PresentationFormat>Widescreen</PresentationFormat>
  <Paragraphs>175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Mbanefo, Adaora Lorraine Onratile</cp:lastModifiedBy>
  <cp:revision>7</cp:revision>
  <dcterms:created xsi:type="dcterms:W3CDTF">2013-01-27T09:14:16Z</dcterms:created>
  <dcterms:modified xsi:type="dcterms:W3CDTF">2026-04-29T20:11:42Z</dcterms:modified>
  <cp:category/>
</cp:coreProperties>
</file>