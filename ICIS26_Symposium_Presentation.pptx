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ba67bd406_3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ba67bd406_3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fba67bd406_3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6ec8ed337a9ddd2f_2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h6ec8ed337a9ddd2f_2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a:t>How do children become participants in multiparty talk, that is, conversation involving three or more people? Children grow up around multiparty talk, whether that's parents and a sibling at the dinner table, or a caregiver on a call with another child in the room. Toddlers barge into it and get better at it with age, and children have to learn to become active participants in these interactions. So how can we investigate the developmental change in their participation?</a:t>
            </a:r>
            <a:endParaRPr/>
          </a:p>
          <a:p>
            <a:pPr indent="0" lvl="0" marL="0" rtl="0" algn="l">
              <a:lnSpc>
                <a:spcPct val="115000"/>
              </a:lnSpc>
              <a:spcBef>
                <a:spcPts val="1200"/>
              </a:spcBef>
              <a:spcAft>
                <a:spcPts val="0"/>
              </a:spcAft>
              <a:buClr>
                <a:schemeClr val="dk1"/>
              </a:buClr>
              <a:buSzPts val="1100"/>
              <a:buFont typeface="Arial"/>
              <a:buNone/>
            </a:pPr>
            <a:r>
              <a:rPr lang="en-GB"/>
              <a:t>One way is through daylong home recordings. Our lab has many of these recordings, transcribed by hand, so we can see children's language across the developmental trajectory. What we don't have is any marking of where the multiparty talk is, or whether the child is even involved. And hand-coding it all  isn't an option, so a corpus this size needs an automated way to pick up on multiparty interactions.</a:t>
            </a:r>
            <a:endParaRPr/>
          </a:p>
          <a:p>
            <a:pPr indent="0" lvl="0" marL="0" rtl="0" algn="l">
              <a:lnSpc>
                <a:spcPct val="115000"/>
              </a:lnSpc>
              <a:spcBef>
                <a:spcPts val="1200"/>
              </a:spcBef>
              <a:spcAft>
                <a:spcPts val="0"/>
              </a:spcAft>
              <a:buClr>
                <a:schemeClr val="dk1"/>
              </a:buClr>
              <a:buSzPts val="1100"/>
              <a:buFont typeface="Arial"/>
              <a:buNone/>
            </a:pPr>
            <a:r>
              <a:rPr lang="en-GB"/>
              <a:t>And that's what this presentation is about. It's ongoing work on using semantic alignment to detect multiparty talk that includes the target child.</a:t>
            </a:r>
            <a:endParaRPr/>
          </a:p>
          <a:p>
            <a:pPr indent="0" lvl="0" marL="0" rtl="0" algn="l">
              <a:spcBef>
                <a:spcPts val="1200"/>
              </a:spcBef>
              <a:spcAft>
                <a:spcPts val="0"/>
              </a:spcAft>
              <a:buNone/>
            </a:pPr>
            <a:r>
              <a:t/>
            </a:r>
            <a:endParaRPr/>
          </a:p>
        </p:txBody>
      </p:sp>
      <p:sp>
        <p:nvSpPr>
          <p:cNvPr id="70" name="Google Shape;70;h6ec8ed337a9ddd2f_2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6ec8ed337a9ddd2f_2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h6ec8ed337a9ddd2f_2_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a:t>Semantic alignment is a way of measuring how similar two speakers are in what they say. In this example on the left, the child is exactly repeating what the adult said. Usually it's not such a perfect overlap, but this is the signal we're looking for.</a:t>
            </a:r>
            <a:endParaRPr/>
          </a:p>
          <a:p>
            <a:pPr indent="0" lvl="0" marL="0" rtl="0" algn="l">
              <a:lnSpc>
                <a:spcPct val="115000"/>
              </a:lnSpc>
              <a:spcBef>
                <a:spcPts val="1200"/>
              </a:spcBef>
              <a:spcAft>
                <a:spcPts val="0"/>
              </a:spcAft>
              <a:buClr>
                <a:schemeClr val="dk1"/>
              </a:buClr>
              <a:buSzPts val="1100"/>
              <a:buFont typeface="Arial"/>
              <a:buNone/>
            </a:pPr>
            <a:r>
              <a:rPr lang="en-GB"/>
              <a:t>So how do we use it? Three steps. First, we score every child turn to see how semantically similar it is to the prior turn from another speaker. Then we compare that alignment score to chance. And then we decide whether that's enough evidence for multiparty talk. A clip counts as multiparty talk including the child when the  target child aligns above chance with two or more different speakers in one stretch.</a:t>
            </a:r>
            <a:endParaRPr/>
          </a:p>
          <a:p>
            <a:pPr indent="0" lvl="0" marL="0" rtl="0" algn="l">
              <a:lnSpc>
                <a:spcPct val="115000"/>
              </a:lnSpc>
              <a:spcBef>
                <a:spcPts val="1200"/>
              </a:spcBef>
              <a:spcAft>
                <a:spcPts val="0"/>
              </a:spcAft>
              <a:buClr>
                <a:schemeClr val="dk1"/>
              </a:buClr>
              <a:buSzPts val="1100"/>
              <a:buFont typeface="Arial"/>
              <a:buNone/>
            </a:pPr>
            <a:r>
              <a:rPr lang="en-GB"/>
              <a:t>One thing to note before the results. Alignment can only score words, so a child who is babbling or silent gives it nothing to work with.</a:t>
            </a:r>
            <a:endParaRPr/>
          </a:p>
          <a:p>
            <a:pPr indent="0" lvl="0" marL="0" rtl="0" algn="l">
              <a:lnSpc>
                <a:spcPct val="115000"/>
              </a:lnSpc>
              <a:spcBef>
                <a:spcPts val="1200"/>
              </a:spcBef>
              <a:spcAft>
                <a:spcPts val="0"/>
              </a:spcAft>
              <a:buClr>
                <a:schemeClr val="dk1"/>
              </a:buClr>
              <a:buSzPts val="1100"/>
              <a:buFont typeface="Arial"/>
              <a:buNone/>
            </a:pPr>
            <a:r>
              <a:rPr lang="en-GB"/>
              <a:t>To test it, I hand-labelled about 200 clips for one thing only, whether the target child is engaged in multiparty talk. The results here are on a 94-clip subset, 32 yes and 62 no.</a:t>
            </a:r>
            <a:endParaRPr/>
          </a:p>
          <a:p>
            <a:pPr indent="0" lvl="0" marL="0" rtl="0" algn="l">
              <a:lnSpc>
                <a:spcPct val="115000"/>
              </a:lnSpc>
              <a:spcBef>
                <a:spcPts val="1200"/>
              </a:spcBef>
              <a:spcAft>
                <a:spcPts val="1200"/>
              </a:spcAft>
              <a:buSzPts val="1100"/>
              <a:buNone/>
            </a:pPr>
            <a:r>
              <a:t/>
            </a:r>
            <a:endParaRPr/>
          </a:p>
        </p:txBody>
      </p:sp>
      <p:sp>
        <p:nvSpPr>
          <p:cNvPr id="87" name="Google Shape;87;h6ec8ed337a9ddd2f_2_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6ec8ed337a9ddd2f_2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h6ec8ed337a9ddd2f_2_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a:t>As a reminder, the goal here is to see whether semantic alignment can tell us which clips have multiparty conversations including the child and which don't. This alluvial chart compares the pipeline's outcome on the left with my hand labels on the right as the gold standard. Each strand is a set of clips, and its width represents the number. The strands run from what the pipeline decided to what was actually in the clip, so you can follow each decision across and see whether it was right.</a:t>
            </a:r>
            <a:endParaRPr/>
          </a:p>
          <a:p>
            <a:pPr indent="0" lvl="0" marL="0" rtl="0" algn="l">
              <a:lnSpc>
                <a:spcPct val="115000"/>
              </a:lnSpc>
              <a:spcBef>
                <a:spcPts val="1200"/>
              </a:spcBef>
              <a:spcAft>
                <a:spcPts val="0"/>
              </a:spcAft>
              <a:buClr>
                <a:schemeClr val="dk1"/>
              </a:buClr>
              <a:buSzPts val="1100"/>
              <a:buFont typeface="Arial"/>
              <a:buNone/>
            </a:pPr>
            <a:r>
              <a:rPr lang="en-GB"/>
              <a:t>Let's start at the top with the 11 clips the pipeline dubbed multiparty with the child. Nine of these, that straight red strand, I had labelled exactly that. Two, that thin blue strand, I had not. So when the pipeline says the child is in multiparty talk, it's right 9 times out of 11, which is a precision of 82%.</a:t>
            </a:r>
            <a:endParaRPr/>
          </a:p>
          <a:p>
            <a:pPr indent="0" lvl="0" marL="0" rtl="0" algn="l">
              <a:lnSpc>
                <a:spcPct val="115000"/>
              </a:lnSpc>
              <a:spcBef>
                <a:spcPts val="1200"/>
              </a:spcBef>
              <a:spcAft>
                <a:spcPts val="0"/>
              </a:spcAft>
              <a:buClr>
                <a:schemeClr val="dk1"/>
              </a:buClr>
              <a:buSzPts val="1100"/>
              <a:buFont typeface="Arial"/>
              <a:buNone/>
            </a:pPr>
            <a:r>
              <a:rPr lang="en-GB"/>
              <a:t>Below that we have</a:t>
            </a:r>
            <a:r>
              <a:rPr lang="en-GB"/>
              <a:t> the block,</a:t>
            </a:r>
            <a:r>
              <a:rPr lang="en-GB"/>
              <a:t> multiparty talk, child not included, this is where the interesting mix is. Fourteen of those clips are blue, and correctly so. There is multiparty talk in them, but it's among the adults and siblings, not with the child. Six are red. The child was engaged, but didn't clear the bar of two partners in turns long enough to score. Those are the misses.</a:t>
            </a:r>
            <a:endParaRPr/>
          </a:p>
          <a:p>
            <a:pPr indent="0" lvl="0" marL="0" rtl="0" algn="l">
              <a:lnSpc>
                <a:spcPct val="115000"/>
              </a:lnSpc>
              <a:spcBef>
                <a:spcPts val="1200"/>
              </a:spcBef>
              <a:spcAft>
                <a:spcPts val="0"/>
              </a:spcAft>
              <a:buClr>
                <a:schemeClr val="dk1"/>
              </a:buClr>
              <a:buSzPts val="1100"/>
              <a:buFont typeface="Arial"/>
              <a:buNone/>
            </a:pPr>
            <a:r>
              <a:rPr lang="en-GB"/>
              <a:t>And then the bottom forty-eight clips. Half the sample, were never scored at all, because the child produced no words. Every strand there comes from the single-word, vocalising, or silent children on the right.</a:t>
            </a:r>
            <a:endParaRPr/>
          </a:p>
          <a:p>
            <a:pPr indent="0" lvl="0" marL="0" rtl="0" algn="l">
              <a:spcBef>
                <a:spcPts val="1200"/>
              </a:spcBef>
              <a:spcAft>
                <a:spcPts val="0"/>
              </a:spcAft>
              <a:buNone/>
            </a:pPr>
            <a:r>
              <a:t/>
            </a:r>
            <a:endParaRPr/>
          </a:p>
        </p:txBody>
      </p:sp>
      <p:sp>
        <p:nvSpPr>
          <p:cNvPr id="117" name="Google Shape;117;h6ec8ed337a9ddd2f_2_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1ebd085cf4e1f9ec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h1ebd085cf4e1f9ec_1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Looking closer at the errors, three things stand out. The false alarms were mostly label errors. Three of the original five turned out to be real multiparty talk when I re-listened. The misses were real engagement, but in turns too short to score. And the biggest issue is that half the clips can't be judged at all, because the child produced no words. That's a limit of any transcript-based measure.</a:t>
            </a:r>
            <a:br>
              <a:rPr lang="en-GB"/>
            </a:br>
            <a:br>
              <a:rPr lang="en-GB"/>
            </a:br>
            <a:r>
              <a:rPr lang="en-GB"/>
              <a:t>One caveat on all of these numbers. They come from a sample that was picked because it was rich in multiparty talk, so a critical next step is testing the rule on clips that aren't biased towards it. That's</a:t>
            </a:r>
            <a:r>
              <a:rPr lang="en-GB">
                <a:solidFill>
                  <a:schemeClr val="dk1"/>
                </a:solidFill>
              </a:rPr>
              <a:t> what we're working on right now. We have </a:t>
            </a:r>
            <a:r>
              <a:rPr lang="en-GB"/>
              <a:t>277 random clips from 63 families across all age ranges, and each one needs to be hand-verified</a:t>
            </a:r>
            <a:endParaRPr/>
          </a:p>
        </p:txBody>
      </p:sp>
      <p:sp>
        <p:nvSpPr>
          <p:cNvPr id="128" name="Google Shape;128;h1ebd085cf4e1f9ec_1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1ebd085cf4e1f9ec_1_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1ebd085cf4e1f9ec_1_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So how do we best capture multiparty talk in linguistic transcripts? By combining temporal and semantic alignment measures, because neither one is enough on its own.</a:t>
            </a:r>
            <a:br>
              <a:rPr lang="en-GB"/>
            </a:br>
            <a:br>
              <a:rPr lang="en-GB"/>
            </a:br>
            <a:r>
              <a:rPr lang="en-GB"/>
              <a:t>The lab's prior approach is temporal. Turns that fall close together in time are grouped as one interaction, and a long gap splits them. That works on any speaker, words or not, but it has two pitfalls, and they're the reason I looked at alignment in the first place. Firstly, two separate exchanges that overlap in time get lumped together, and the other is when one conversation with a pause in the middle gets split in two, because timing never looks at what's being said. The current approach, alignment, does look, but it can't work on a child who has few or no words yet. Each one fails where the other holds. So the next step is to combine them, using timing to propose where the interactions are, alignment to check them, and the two together to reach the children that neither can reach alone.</a:t>
            </a:r>
            <a:br>
              <a:rPr lang="en-GB"/>
            </a:br>
            <a:br>
              <a:rPr lang="en-GB"/>
            </a:br>
            <a:r>
              <a:rPr lang="en-GB"/>
              <a:t>And that brings us back to the question we started with. How does a child's place in multiparty talk change as they grow? Combining these measures is what will let us put a corpus this size to work on that question, and this project is the first step.</a:t>
            </a:r>
            <a:endParaRPr/>
          </a:p>
        </p:txBody>
      </p:sp>
      <p:sp>
        <p:nvSpPr>
          <p:cNvPr id="144" name="Google Shape;144;h1ebd085cf4e1f9ec_1_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ba39b3d2_0_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fbba39b3d2_0_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Thank you to my mentors at the ChatterLab, Dr. Casillas and Subin Kim; to the ICIS Founding Generation Fellowship for this opportunity; to Dr. Stoops and Dr. Montag at the Learning and Language Lab for sharing the fellowship with me and giving me the tools to succeed; and to my family, without whom I would not be here. Questions?</a:t>
            </a:r>
            <a:endParaRPr/>
          </a:p>
        </p:txBody>
      </p:sp>
      <p:sp>
        <p:nvSpPr>
          <p:cNvPr id="162" name="Google Shape;162;g3fbba39b3d2_0_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3B"/>
        </a:solidFill>
      </p:bgPr>
    </p:bg>
    <p:spTree>
      <p:nvGrpSpPr>
        <p:cNvPr id="56" name="Shape 56"/>
        <p:cNvGrpSpPr/>
        <p:nvPr/>
      </p:nvGrpSpPr>
      <p:grpSpPr>
        <a:xfrm>
          <a:off x="0" y="0"/>
          <a:ext cx="0" cy="0"/>
          <a:chOff x="0" y="0"/>
          <a:chExt cx="0" cy="0"/>
        </a:xfrm>
      </p:grpSpPr>
      <p:pic>
        <p:nvPicPr>
          <p:cNvPr descr="/home/claude/deck/cl.png" id="57" name="Google Shape;57;p15"/>
          <p:cNvPicPr preferRelativeResize="0"/>
          <p:nvPr/>
        </p:nvPicPr>
        <p:blipFill rotWithShape="1">
          <a:blip r:embed="rId3">
            <a:alphaModFix/>
          </a:blip>
          <a:srcRect b="0" l="0" r="0" t="0"/>
          <a:stretch/>
        </p:blipFill>
        <p:spPr>
          <a:xfrm>
            <a:off x="457200" y="320040"/>
            <a:ext cx="868680" cy="713232"/>
          </a:xfrm>
          <a:prstGeom prst="rect">
            <a:avLst/>
          </a:prstGeom>
          <a:noFill/>
          <a:ln>
            <a:noFill/>
          </a:ln>
        </p:spPr>
      </p:pic>
      <p:pic>
        <p:nvPicPr>
          <p:cNvPr descr="/home/claude/deck/icis.png" id="58" name="Google Shape;58;p15"/>
          <p:cNvPicPr preferRelativeResize="0"/>
          <p:nvPr/>
        </p:nvPicPr>
        <p:blipFill rotWithShape="1">
          <a:blip r:embed="rId4">
            <a:alphaModFix/>
          </a:blip>
          <a:srcRect b="0" l="0" r="0" t="0"/>
          <a:stretch/>
        </p:blipFill>
        <p:spPr>
          <a:xfrm>
            <a:off x="7223760" y="365760"/>
            <a:ext cx="1463040" cy="822960"/>
          </a:xfrm>
          <a:prstGeom prst="rect">
            <a:avLst/>
          </a:prstGeom>
          <a:noFill/>
          <a:ln>
            <a:noFill/>
          </a:ln>
        </p:spPr>
      </p:pic>
      <p:sp>
        <p:nvSpPr>
          <p:cNvPr id="59" name="Google Shape;59;p15"/>
          <p:cNvSpPr txBox="1"/>
          <p:nvPr/>
        </p:nvSpPr>
        <p:spPr>
          <a:xfrm>
            <a:off x="457200" y="12344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BCC5"/>
              </a:buClr>
              <a:buSzPts val="1000"/>
              <a:buFont typeface="Calibri"/>
              <a:buNone/>
            </a:pPr>
            <a:r>
              <a:rPr b="0" i="0" lang="en-GB" sz="1000" u="none" cap="none" strike="noStrike">
                <a:solidFill>
                  <a:srgbClr val="B3BCC5"/>
                </a:solidFill>
                <a:latin typeface="Calibri"/>
                <a:ea typeface="Calibri"/>
                <a:cs typeface="Calibri"/>
                <a:sym typeface="Calibri"/>
              </a:rPr>
              <a:t>ICIS FOUNDING GENERATION INTERNSHIP SYMPOSIUM  ·  SEPTEMBER 2026</a:t>
            </a:r>
            <a:endParaRPr b="0" i="0" sz="1000" u="none" cap="none" strike="noStrike">
              <a:solidFill>
                <a:schemeClr val="dk1"/>
              </a:solidFill>
              <a:latin typeface="Calibri"/>
              <a:ea typeface="Calibri"/>
              <a:cs typeface="Calibri"/>
              <a:sym typeface="Calibri"/>
            </a:endParaRPr>
          </a:p>
        </p:txBody>
      </p:sp>
      <p:sp>
        <p:nvSpPr>
          <p:cNvPr id="60" name="Google Shape;60;p15"/>
          <p:cNvSpPr txBox="1"/>
          <p:nvPr/>
        </p:nvSpPr>
        <p:spPr>
          <a:xfrm>
            <a:off x="457200" y="1593299"/>
            <a:ext cx="82296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400"/>
              <a:buFont typeface="Cambria"/>
              <a:buNone/>
            </a:pPr>
            <a:r>
              <a:rPr b="1" i="0" lang="en-GB" sz="3300" u="none" cap="none" strike="noStrike">
                <a:solidFill>
                  <a:srgbClr val="FFFFFF"/>
                </a:solidFill>
                <a:latin typeface="Cambria"/>
                <a:ea typeface="Cambria"/>
                <a:cs typeface="Cambria"/>
                <a:sym typeface="Cambria"/>
              </a:rPr>
              <a:t>Detecting </a:t>
            </a:r>
            <a:r>
              <a:rPr b="1" lang="en-GB" sz="3300">
                <a:solidFill>
                  <a:srgbClr val="FFFFFF"/>
                </a:solidFill>
                <a:latin typeface="Cambria"/>
                <a:ea typeface="Cambria"/>
                <a:cs typeface="Cambria"/>
                <a:sym typeface="Cambria"/>
              </a:rPr>
              <a:t>C</a:t>
            </a:r>
            <a:r>
              <a:rPr b="1" i="0" lang="en-GB" sz="3300" u="none" cap="none" strike="noStrike">
                <a:solidFill>
                  <a:srgbClr val="FFFFFF"/>
                </a:solidFill>
                <a:latin typeface="Cambria"/>
                <a:ea typeface="Cambria"/>
                <a:cs typeface="Cambria"/>
                <a:sym typeface="Cambria"/>
              </a:rPr>
              <a:t>hildren’s </a:t>
            </a:r>
            <a:r>
              <a:rPr b="1" lang="en-GB" sz="3300">
                <a:solidFill>
                  <a:srgbClr val="FFFFFF"/>
                </a:solidFill>
                <a:latin typeface="Cambria"/>
                <a:ea typeface="Cambria"/>
                <a:cs typeface="Cambria"/>
                <a:sym typeface="Cambria"/>
              </a:rPr>
              <a:t>E</a:t>
            </a:r>
            <a:r>
              <a:rPr b="1" i="0" lang="en-GB" sz="3300" u="none" cap="none" strike="noStrike">
                <a:solidFill>
                  <a:srgbClr val="FFFFFF"/>
                </a:solidFill>
                <a:latin typeface="Cambria"/>
                <a:ea typeface="Cambria"/>
                <a:cs typeface="Cambria"/>
                <a:sym typeface="Cambria"/>
              </a:rPr>
              <a:t>ntry into </a:t>
            </a:r>
            <a:r>
              <a:rPr b="1" lang="en-GB" sz="3300">
                <a:solidFill>
                  <a:srgbClr val="FFFFFF"/>
                </a:solidFill>
                <a:latin typeface="Cambria"/>
                <a:ea typeface="Cambria"/>
                <a:cs typeface="Cambria"/>
                <a:sym typeface="Cambria"/>
              </a:rPr>
              <a:t>M</a:t>
            </a:r>
            <a:r>
              <a:rPr b="1" i="0" lang="en-GB" sz="3300" u="none" cap="none" strike="noStrike">
                <a:solidFill>
                  <a:srgbClr val="FFFFFF"/>
                </a:solidFill>
                <a:latin typeface="Cambria"/>
                <a:ea typeface="Cambria"/>
                <a:cs typeface="Cambria"/>
                <a:sym typeface="Cambria"/>
              </a:rPr>
              <a:t>ultiparty </a:t>
            </a:r>
            <a:r>
              <a:rPr b="1" lang="en-GB" sz="3300">
                <a:solidFill>
                  <a:srgbClr val="FFFFFF"/>
                </a:solidFill>
                <a:latin typeface="Cambria"/>
                <a:ea typeface="Cambria"/>
                <a:cs typeface="Cambria"/>
                <a:sym typeface="Cambria"/>
              </a:rPr>
              <a:t>T</a:t>
            </a:r>
            <a:r>
              <a:rPr b="1" i="0" lang="en-GB" sz="3300" u="none" cap="none" strike="noStrike">
                <a:solidFill>
                  <a:srgbClr val="FFFFFF"/>
                </a:solidFill>
                <a:latin typeface="Cambria"/>
                <a:ea typeface="Cambria"/>
                <a:cs typeface="Cambria"/>
                <a:sym typeface="Cambria"/>
              </a:rPr>
              <a:t>alk with </a:t>
            </a:r>
            <a:r>
              <a:rPr b="1" lang="en-GB" sz="3300">
                <a:solidFill>
                  <a:srgbClr val="FFFFFF"/>
                </a:solidFill>
                <a:latin typeface="Cambria"/>
                <a:ea typeface="Cambria"/>
                <a:cs typeface="Cambria"/>
                <a:sym typeface="Cambria"/>
              </a:rPr>
              <a:t>L</a:t>
            </a:r>
            <a:r>
              <a:rPr b="1" i="0" lang="en-GB" sz="3300" u="none" cap="none" strike="noStrike">
                <a:solidFill>
                  <a:srgbClr val="FFFFFF"/>
                </a:solidFill>
                <a:latin typeface="Cambria"/>
                <a:ea typeface="Cambria"/>
                <a:cs typeface="Cambria"/>
                <a:sym typeface="Cambria"/>
              </a:rPr>
              <a:t>inguistic </a:t>
            </a:r>
            <a:r>
              <a:rPr b="1" lang="en-GB" sz="3300">
                <a:solidFill>
                  <a:srgbClr val="FFFFFF"/>
                </a:solidFill>
                <a:latin typeface="Cambria"/>
                <a:ea typeface="Cambria"/>
                <a:cs typeface="Cambria"/>
                <a:sym typeface="Cambria"/>
              </a:rPr>
              <a:t>A</a:t>
            </a:r>
            <a:r>
              <a:rPr b="1" i="0" lang="en-GB" sz="3300" u="none" cap="none" strike="noStrike">
                <a:solidFill>
                  <a:srgbClr val="FFFFFF"/>
                </a:solidFill>
                <a:latin typeface="Cambria"/>
                <a:ea typeface="Cambria"/>
                <a:cs typeface="Cambria"/>
                <a:sym typeface="Cambria"/>
              </a:rPr>
              <a:t>lignment</a:t>
            </a:r>
            <a:endParaRPr b="0" i="0" sz="3300" u="none" cap="none" strike="noStrike">
              <a:solidFill>
                <a:schemeClr val="dk1"/>
              </a:solidFill>
              <a:latin typeface="Calibri"/>
              <a:ea typeface="Calibri"/>
              <a:cs typeface="Calibri"/>
              <a:sym typeface="Calibri"/>
            </a:endParaRPr>
          </a:p>
        </p:txBody>
      </p:sp>
      <p:sp>
        <p:nvSpPr>
          <p:cNvPr id="61" name="Google Shape;61;p15"/>
          <p:cNvSpPr txBox="1"/>
          <p:nvPr/>
        </p:nvSpPr>
        <p:spPr>
          <a:xfrm>
            <a:off x="457200" y="306324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CFC3"/>
              </a:buClr>
              <a:buSzPts val="1800"/>
              <a:buFont typeface="Calibri"/>
              <a:buNone/>
            </a:pPr>
            <a:r>
              <a:rPr b="0" i="0" lang="en-GB" sz="1800" u="none" cap="none" strike="noStrike">
                <a:solidFill>
                  <a:srgbClr val="F3CFC3"/>
                </a:solidFill>
                <a:latin typeface="Calibri"/>
                <a:ea typeface="Calibri"/>
                <a:cs typeface="Calibri"/>
                <a:sym typeface="Calibri"/>
              </a:rPr>
              <a:t>Adaora Mbanefo</a:t>
            </a:r>
            <a:endParaRPr b="0" i="0" sz="1800" u="none" cap="none" strike="noStrike">
              <a:solidFill>
                <a:schemeClr val="dk1"/>
              </a:solidFill>
              <a:latin typeface="Calibri"/>
              <a:ea typeface="Calibri"/>
              <a:cs typeface="Calibri"/>
              <a:sym typeface="Calibri"/>
            </a:endParaRPr>
          </a:p>
        </p:txBody>
      </p:sp>
      <p:sp>
        <p:nvSpPr>
          <p:cNvPr id="62" name="Google Shape;62;p15"/>
          <p:cNvSpPr txBox="1"/>
          <p:nvPr/>
        </p:nvSpPr>
        <p:spPr>
          <a:xfrm>
            <a:off x="457200" y="3429000"/>
            <a:ext cx="5943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BCC5"/>
              </a:buClr>
              <a:buSzPts val="1200"/>
              <a:buFont typeface="Calibri"/>
              <a:buNone/>
            </a:pPr>
            <a:r>
              <a:rPr b="0" i="0" lang="en-GB" sz="1200" u="none" cap="none" strike="noStrike">
                <a:solidFill>
                  <a:srgbClr val="B3BCC5"/>
                </a:solidFill>
                <a:latin typeface="Calibri"/>
                <a:ea typeface="Calibri"/>
                <a:cs typeface="Calibri"/>
                <a:sym typeface="Calibri"/>
              </a:rPr>
              <a:t>ChatterLab, University of Chicago  ·  University of Illinois Urbana-Champaign</a:t>
            </a:r>
            <a:endParaRPr b="0" i="0" sz="1200" u="none" cap="none" strike="noStrike">
              <a:solidFill>
                <a:schemeClr val="dk1"/>
              </a:solidFill>
              <a:latin typeface="Calibri"/>
              <a:ea typeface="Calibri"/>
              <a:cs typeface="Calibri"/>
              <a:sym typeface="Calibri"/>
            </a:endParaRPr>
          </a:p>
        </p:txBody>
      </p:sp>
      <p:pic>
        <p:nvPicPr>
          <p:cNvPr descr="/home/claude/deck/adaora.png" id="63" name="Google Shape;63;p15"/>
          <p:cNvPicPr preferRelativeResize="0"/>
          <p:nvPr/>
        </p:nvPicPr>
        <p:blipFill rotWithShape="1">
          <a:blip r:embed="rId5">
            <a:alphaModFix/>
          </a:blip>
          <a:srcRect b="0" l="0" r="0" t="0"/>
          <a:stretch/>
        </p:blipFill>
        <p:spPr>
          <a:xfrm>
            <a:off x="7940295" y="3749105"/>
            <a:ext cx="777300" cy="777300"/>
          </a:xfrm>
          <a:prstGeom prst="ellipse">
            <a:avLst/>
          </a:prstGeom>
          <a:noFill/>
          <a:ln>
            <a:noFill/>
          </a:ln>
        </p:spPr>
      </p:pic>
      <p:sp>
        <p:nvSpPr>
          <p:cNvPr id="64" name="Google Shape;64;p15"/>
          <p:cNvSpPr txBox="1"/>
          <p:nvPr/>
        </p:nvSpPr>
        <p:spPr>
          <a:xfrm>
            <a:off x="7757415" y="4553777"/>
            <a:ext cx="11430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Adaora Mbanefo</a:t>
            </a:r>
            <a:endParaRPr b="0" i="0" sz="850" u="none" cap="none" strike="noStrike">
              <a:solidFill>
                <a:schemeClr val="dk1"/>
              </a:solidFill>
              <a:latin typeface="Calibri"/>
              <a:ea typeface="Calibri"/>
              <a:cs typeface="Calibri"/>
              <a:sym typeface="Calibri"/>
            </a:endParaRPr>
          </a:p>
        </p:txBody>
      </p:sp>
      <p:sp>
        <p:nvSpPr>
          <p:cNvPr id="65" name="Google Shape;65;p15"/>
          <p:cNvSpPr txBox="1"/>
          <p:nvPr/>
        </p:nvSpPr>
        <p:spPr>
          <a:xfrm>
            <a:off x="7757415" y="4736657"/>
            <a:ext cx="1143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3BCC5"/>
              </a:buClr>
              <a:buSzPts val="800"/>
              <a:buFont typeface="Calibri"/>
              <a:buNone/>
            </a:pPr>
            <a:r>
              <a:rPr b="0" i="0" lang="en-GB" sz="800" u="none" cap="none" strike="noStrike">
                <a:solidFill>
                  <a:srgbClr val="B3BCC5"/>
                </a:solidFill>
                <a:latin typeface="Calibri"/>
                <a:ea typeface="Calibri"/>
                <a:cs typeface="Calibri"/>
                <a:sym typeface="Calibri"/>
              </a:rPr>
              <a:t>Fellow</a:t>
            </a:r>
            <a:endParaRPr b="0" i="0" sz="800" u="none" cap="none" strike="noStrike">
              <a:solidFill>
                <a:schemeClr val="dk1"/>
              </a:solidFill>
              <a:latin typeface="Calibri"/>
              <a:ea typeface="Calibri"/>
              <a:cs typeface="Calibri"/>
              <a:sym typeface="Calibri"/>
            </a:endParaRPr>
          </a:p>
        </p:txBody>
      </p:sp>
      <p:pic>
        <p:nvPicPr>
          <p:cNvPr id="66" name="Google Shape;66;p15"/>
          <p:cNvPicPr preferRelativeResize="0"/>
          <p:nvPr/>
        </p:nvPicPr>
        <p:blipFill>
          <a:blip r:embed="rId6">
            <a:alphaModFix/>
          </a:blip>
          <a:stretch>
            <a:fillRect/>
          </a:stretch>
        </p:blipFill>
        <p:spPr>
          <a:xfrm>
            <a:off x="6970093" y="3781137"/>
            <a:ext cx="713225" cy="713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2400"/>
              <a:buFont typeface="Cambria"/>
              <a:buNone/>
            </a:pPr>
            <a:r>
              <a:rPr b="1" i="0" lang="en-GB" sz="2400" u="none" cap="none" strike="noStrike">
                <a:solidFill>
                  <a:srgbClr val="1E2A3B"/>
                </a:solidFill>
                <a:latin typeface="Cambria"/>
                <a:ea typeface="Cambria"/>
                <a:cs typeface="Cambria"/>
                <a:sym typeface="Cambria"/>
              </a:rPr>
              <a:t>How do children become participants in multiparty talk?</a:t>
            </a:r>
            <a:endParaRPr b="0" i="0" sz="2400" u="none" cap="none" strike="noStrike">
              <a:solidFill>
                <a:schemeClr val="dk1"/>
              </a:solidFill>
              <a:latin typeface="Calibri"/>
              <a:ea typeface="Calibri"/>
              <a:cs typeface="Calibri"/>
              <a:sym typeface="Calibri"/>
            </a:endParaRPr>
          </a:p>
        </p:txBody>
      </p:sp>
      <p:pic>
        <p:nvPicPr>
          <p:cNvPr descr="/home/claude/deck/photo13.png" id="73" name="Google Shape;73;p16"/>
          <p:cNvPicPr preferRelativeResize="0"/>
          <p:nvPr/>
        </p:nvPicPr>
        <p:blipFill rotWithShape="1">
          <a:blip r:embed="rId3">
            <a:alphaModFix/>
          </a:blip>
          <a:srcRect b="0" l="0" r="0" t="0"/>
          <a:stretch/>
        </p:blipFill>
        <p:spPr>
          <a:xfrm>
            <a:off x="457200" y="1051560"/>
            <a:ext cx="3749040" cy="2148840"/>
          </a:xfrm>
          <a:prstGeom prst="rect">
            <a:avLst/>
          </a:prstGeom>
          <a:noFill/>
          <a:ln>
            <a:noFill/>
          </a:ln>
        </p:spPr>
      </p:pic>
      <p:pic>
        <p:nvPicPr>
          <p:cNvPr descr="/home/claude/deck/photo11.png" id="74" name="Google Shape;74;p16"/>
          <p:cNvPicPr preferRelativeResize="0"/>
          <p:nvPr/>
        </p:nvPicPr>
        <p:blipFill rotWithShape="1">
          <a:blip r:embed="rId4">
            <a:alphaModFix/>
          </a:blip>
          <a:srcRect b="0" l="0" r="0" t="0"/>
          <a:stretch/>
        </p:blipFill>
        <p:spPr>
          <a:xfrm>
            <a:off x="457200" y="3337560"/>
            <a:ext cx="1828800" cy="1325880"/>
          </a:xfrm>
          <a:prstGeom prst="rect">
            <a:avLst/>
          </a:prstGeom>
          <a:noFill/>
          <a:ln>
            <a:noFill/>
          </a:ln>
        </p:spPr>
      </p:pic>
      <p:pic>
        <p:nvPicPr>
          <p:cNvPr descr="/home/claude/deck/photo7.png" id="75" name="Google Shape;75;p16"/>
          <p:cNvPicPr preferRelativeResize="0"/>
          <p:nvPr/>
        </p:nvPicPr>
        <p:blipFill rotWithShape="1">
          <a:blip r:embed="rId5">
            <a:alphaModFix/>
          </a:blip>
          <a:srcRect b="0" l="0" r="0" t="0"/>
          <a:stretch/>
        </p:blipFill>
        <p:spPr>
          <a:xfrm>
            <a:off x="2377440" y="3337560"/>
            <a:ext cx="1828800" cy="1325880"/>
          </a:xfrm>
          <a:prstGeom prst="rect">
            <a:avLst/>
          </a:prstGeom>
          <a:noFill/>
          <a:ln>
            <a:noFill/>
          </a:ln>
        </p:spPr>
      </p:pic>
      <p:pic>
        <p:nvPicPr>
          <p:cNvPr descr="/home/claude/deck/photo12.png" id="76" name="Google Shape;76;p16"/>
          <p:cNvPicPr preferRelativeResize="0"/>
          <p:nvPr/>
        </p:nvPicPr>
        <p:blipFill rotWithShape="1">
          <a:blip r:embed="rId6">
            <a:alphaModFix/>
          </a:blip>
          <a:srcRect b="0" l="0" r="0" t="0"/>
          <a:stretch/>
        </p:blipFill>
        <p:spPr>
          <a:xfrm>
            <a:off x="4572000" y="1051560"/>
            <a:ext cx="1920240" cy="1417320"/>
          </a:xfrm>
          <a:prstGeom prst="rect">
            <a:avLst/>
          </a:prstGeom>
          <a:noFill/>
          <a:ln>
            <a:noFill/>
          </a:ln>
        </p:spPr>
      </p:pic>
      <p:sp>
        <p:nvSpPr>
          <p:cNvPr id="77" name="Google Shape;77;p16"/>
          <p:cNvSpPr/>
          <p:nvPr/>
        </p:nvSpPr>
        <p:spPr>
          <a:xfrm>
            <a:off x="6629400" y="1051560"/>
            <a:ext cx="2057400" cy="1417320"/>
          </a:xfrm>
          <a:prstGeom prst="rect">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txBox="1"/>
          <p:nvPr/>
        </p:nvSpPr>
        <p:spPr>
          <a:xfrm>
            <a:off x="6766560" y="109728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2600"/>
              <a:buFont typeface="Cambria"/>
              <a:buNone/>
            </a:pPr>
            <a:r>
              <a:rPr b="1" i="0" lang="en-GB" sz="2600" u="none" cap="none" strike="noStrike">
                <a:solidFill>
                  <a:srgbClr val="1E2A3B"/>
                </a:solidFill>
                <a:latin typeface="Cambria"/>
                <a:ea typeface="Cambria"/>
                <a:cs typeface="Cambria"/>
                <a:sym typeface="Cambria"/>
              </a:rPr>
              <a:t>1,377</a:t>
            </a:r>
            <a:endParaRPr b="0" i="0" sz="2600" u="none" cap="none" strike="noStrike">
              <a:solidFill>
                <a:schemeClr val="dk1"/>
              </a:solidFill>
              <a:latin typeface="Calibri"/>
              <a:ea typeface="Calibri"/>
              <a:cs typeface="Calibri"/>
              <a:sym typeface="Calibri"/>
            </a:endParaRPr>
          </a:p>
        </p:txBody>
      </p:sp>
      <p:sp>
        <p:nvSpPr>
          <p:cNvPr id="79" name="Google Shape;79;p16"/>
          <p:cNvSpPr txBox="1"/>
          <p:nvPr/>
        </p:nvSpPr>
        <p:spPr>
          <a:xfrm>
            <a:off x="6766560" y="1481328"/>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785"/>
              </a:buClr>
              <a:buSzPts val="950"/>
              <a:buFont typeface="Calibri"/>
              <a:buNone/>
            </a:pPr>
            <a:r>
              <a:rPr b="0" i="0" lang="en-GB" sz="950" u="none" cap="none" strike="noStrike">
                <a:solidFill>
                  <a:srgbClr val="6B7785"/>
                </a:solidFill>
                <a:latin typeface="Calibri"/>
                <a:ea typeface="Calibri"/>
                <a:cs typeface="Calibri"/>
                <a:sym typeface="Calibri"/>
              </a:rPr>
              <a:t>5-minute clips, randomly sampled</a:t>
            </a:r>
            <a:endParaRPr b="0" i="0" sz="950" u="none" cap="none" strike="noStrike">
              <a:solidFill>
                <a:schemeClr val="dk1"/>
              </a:solidFill>
              <a:latin typeface="Calibri"/>
              <a:ea typeface="Calibri"/>
              <a:cs typeface="Calibri"/>
              <a:sym typeface="Calibri"/>
            </a:endParaRPr>
          </a:p>
        </p:txBody>
      </p:sp>
      <p:sp>
        <p:nvSpPr>
          <p:cNvPr id="80" name="Google Shape;80;p16"/>
          <p:cNvSpPr txBox="1"/>
          <p:nvPr/>
        </p:nvSpPr>
        <p:spPr>
          <a:xfrm>
            <a:off x="6766560" y="178308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2600"/>
              <a:buFont typeface="Cambria"/>
              <a:buNone/>
            </a:pPr>
            <a:r>
              <a:rPr b="1" i="0" lang="en-GB" sz="2600" u="none" cap="none" strike="noStrike">
                <a:solidFill>
                  <a:srgbClr val="1E2A3B"/>
                </a:solidFill>
                <a:latin typeface="Cambria"/>
                <a:ea typeface="Cambria"/>
                <a:cs typeface="Cambria"/>
                <a:sym typeface="Cambria"/>
              </a:rPr>
              <a:t>114+</a:t>
            </a:r>
            <a:endParaRPr b="0" i="0" sz="2600" u="none" cap="none" strike="noStrike">
              <a:solidFill>
                <a:schemeClr val="dk1"/>
              </a:solidFill>
              <a:latin typeface="Calibri"/>
              <a:ea typeface="Calibri"/>
              <a:cs typeface="Calibri"/>
              <a:sym typeface="Calibri"/>
            </a:endParaRPr>
          </a:p>
        </p:txBody>
      </p:sp>
      <p:sp>
        <p:nvSpPr>
          <p:cNvPr id="81" name="Google Shape;81;p16"/>
          <p:cNvSpPr txBox="1"/>
          <p:nvPr/>
        </p:nvSpPr>
        <p:spPr>
          <a:xfrm>
            <a:off x="6766560" y="2167128"/>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785"/>
              </a:buClr>
              <a:buSzPts val="950"/>
              <a:buFont typeface="Calibri"/>
              <a:buNone/>
            </a:pPr>
            <a:r>
              <a:rPr b="0" i="0" lang="en-GB" sz="950" u="none" cap="none" strike="noStrike">
                <a:solidFill>
                  <a:srgbClr val="6B7785"/>
                </a:solidFill>
                <a:latin typeface="Calibri"/>
                <a:ea typeface="Calibri"/>
                <a:cs typeface="Calibri"/>
                <a:sym typeface="Calibri"/>
              </a:rPr>
              <a:t>hours, transcribed by hand</a:t>
            </a:r>
            <a:endParaRPr b="0" i="0" sz="950" u="none" cap="none" strike="noStrike">
              <a:solidFill>
                <a:schemeClr val="dk1"/>
              </a:solidFill>
              <a:latin typeface="Calibri"/>
              <a:ea typeface="Calibri"/>
              <a:cs typeface="Calibri"/>
              <a:sym typeface="Calibri"/>
            </a:endParaRPr>
          </a:p>
        </p:txBody>
      </p:sp>
      <p:sp>
        <p:nvSpPr>
          <p:cNvPr id="82" name="Google Shape;82;p16"/>
          <p:cNvSpPr txBox="1"/>
          <p:nvPr/>
        </p:nvSpPr>
        <p:spPr>
          <a:xfrm>
            <a:off x="4572000" y="2651760"/>
            <a:ext cx="41148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200"/>
              <a:buFont typeface="Calibri"/>
              <a:buNone/>
            </a:pPr>
            <a:r>
              <a:rPr b="0" i="0" lang="en-GB" sz="1200" u="none" cap="none" strike="noStrike">
                <a:solidFill>
                  <a:srgbClr val="1E2A3B"/>
                </a:solidFill>
                <a:latin typeface="Calibri"/>
                <a:ea typeface="Calibri"/>
                <a:cs typeface="Calibri"/>
                <a:sym typeface="Calibri"/>
              </a:rPr>
              <a:t>Daylong home recordings, transcribed, timestamped and speaker-labelled. Nothing marks where the multiparty talk is, or whether the child is in it.</a:t>
            </a:r>
            <a:endParaRPr b="0" i="0" sz="1200" u="none" cap="none" strike="noStrike">
              <a:solidFill>
                <a:schemeClr val="dk1"/>
              </a:solidFill>
              <a:latin typeface="Calibri"/>
              <a:ea typeface="Calibri"/>
              <a:cs typeface="Calibri"/>
              <a:sym typeface="Calibri"/>
            </a:endParaRPr>
          </a:p>
        </p:txBody>
      </p:sp>
      <p:sp>
        <p:nvSpPr>
          <p:cNvPr id="83" name="Google Shape;83;p16"/>
          <p:cNvSpPr txBox="1"/>
          <p:nvPr/>
        </p:nvSpPr>
        <p:spPr>
          <a:xfrm>
            <a:off x="4572000" y="3520440"/>
            <a:ext cx="41148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8553D"/>
              </a:buClr>
              <a:buSzPts val="1600"/>
              <a:buFont typeface="Cambria"/>
              <a:buNone/>
            </a:pPr>
            <a:r>
              <a:rPr b="1" i="0" lang="en-GB" sz="1600" u="none" cap="none" strike="noStrike">
                <a:solidFill>
                  <a:srgbClr val="C8553D"/>
                </a:solidFill>
                <a:latin typeface="Cambria"/>
                <a:ea typeface="Cambria"/>
                <a:cs typeface="Cambria"/>
                <a:sym typeface="Cambria"/>
              </a:rPr>
              <a:t>Question: </a:t>
            </a:r>
            <a:r>
              <a:rPr b="0" i="0" lang="en-GB" sz="1600" u="none" cap="none" strike="noStrike">
                <a:solidFill>
                  <a:srgbClr val="1E2A3B"/>
                </a:solidFill>
                <a:latin typeface="Cambria"/>
                <a:ea typeface="Cambria"/>
                <a:cs typeface="Cambria"/>
                <a:sym typeface="Cambria"/>
              </a:rPr>
              <a:t>can we detect multiparty talk with the child in it, automatically, from the transcript?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2400"/>
              <a:buFont typeface="Cambria"/>
              <a:buNone/>
            </a:pPr>
            <a:r>
              <a:rPr b="1" i="0" lang="en-GB" sz="2400" u="none" cap="none" strike="noStrike">
                <a:solidFill>
                  <a:srgbClr val="1E2A3B"/>
                </a:solidFill>
                <a:latin typeface="Cambria"/>
                <a:ea typeface="Cambria"/>
                <a:cs typeface="Cambria"/>
                <a:sym typeface="Cambria"/>
              </a:rPr>
              <a:t>One way to detect multiparty talk: semantic alignment</a:t>
            </a:r>
            <a:endParaRPr b="0" i="0" sz="2400" u="none" cap="none" strike="noStrike">
              <a:solidFill>
                <a:schemeClr val="dk1"/>
              </a:solidFill>
              <a:latin typeface="Calibri"/>
              <a:ea typeface="Calibri"/>
              <a:cs typeface="Calibri"/>
              <a:sym typeface="Calibri"/>
            </a:endParaRPr>
          </a:p>
        </p:txBody>
      </p:sp>
      <p:sp>
        <p:nvSpPr>
          <p:cNvPr id="90" name="Google Shape;90;p17"/>
          <p:cNvSpPr/>
          <p:nvPr/>
        </p:nvSpPr>
        <p:spPr>
          <a:xfrm>
            <a:off x="457200" y="1051560"/>
            <a:ext cx="3291840" cy="3383280"/>
          </a:xfrm>
          <a:prstGeom prst="rect">
            <a:avLst/>
          </a:prstGeom>
          <a:solidFill>
            <a:srgbClr val="1E2A3B"/>
          </a:solidFill>
          <a:ln cap="flat" cmpd="sng" w="12700">
            <a:solidFill>
              <a:srgbClr val="1E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txBox="1"/>
          <p:nvPr/>
        </p:nvSpPr>
        <p:spPr>
          <a:xfrm>
            <a:off x="685800" y="1188720"/>
            <a:ext cx="28346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BCC5"/>
              </a:buClr>
              <a:buSzPts val="950"/>
              <a:buFont typeface="Calibri"/>
              <a:buNone/>
            </a:pPr>
            <a:r>
              <a:rPr b="0" i="0" lang="en-GB" sz="950" u="none" cap="none" strike="noStrike">
                <a:solidFill>
                  <a:srgbClr val="B3BCC5"/>
                </a:solidFill>
                <a:latin typeface="Calibri"/>
                <a:ea typeface="Calibri"/>
                <a:cs typeface="Calibri"/>
                <a:sym typeface="Calibri"/>
              </a:rPr>
              <a:t>a clear case: the child echoes the caregiver</a:t>
            </a:r>
            <a:endParaRPr b="0" i="0" sz="950" u="none" cap="none" strike="noStrike">
              <a:solidFill>
                <a:schemeClr val="dk1"/>
              </a:solidFill>
              <a:latin typeface="Calibri"/>
              <a:ea typeface="Calibri"/>
              <a:cs typeface="Calibri"/>
              <a:sym typeface="Calibri"/>
            </a:endParaRPr>
          </a:p>
        </p:txBody>
      </p:sp>
      <p:sp>
        <p:nvSpPr>
          <p:cNvPr id="92" name="Google Shape;92;p17"/>
          <p:cNvSpPr txBox="1"/>
          <p:nvPr/>
        </p:nvSpPr>
        <p:spPr>
          <a:xfrm>
            <a:off x="685800" y="1481328"/>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AC4"/>
              </a:buClr>
              <a:buSzPts val="1200"/>
              <a:buFont typeface="Courier New"/>
              <a:buNone/>
            </a:pPr>
            <a:r>
              <a:rPr b="1" i="0" lang="en-GB" sz="1200" u="none" cap="none" strike="noStrike">
                <a:solidFill>
                  <a:srgbClr val="8FAAC4"/>
                </a:solidFill>
                <a:latin typeface="Courier New"/>
                <a:ea typeface="Courier New"/>
                <a:cs typeface="Courier New"/>
                <a:sym typeface="Courier New"/>
              </a:rPr>
              <a:t>MA1   </a:t>
            </a:r>
            <a:r>
              <a:rPr b="0" i="0" lang="en-GB" sz="1200" u="none" cap="none" strike="noStrike">
                <a:solidFill>
                  <a:srgbClr val="F3CFC3"/>
                </a:solidFill>
                <a:latin typeface="Calibri"/>
                <a:ea typeface="Calibri"/>
                <a:cs typeface="Calibri"/>
                <a:sym typeface="Calibri"/>
              </a:rPr>
              <a:t>here comes a red one</a:t>
            </a:r>
            <a:endParaRPr b="0" i="0" sz="1200" u="none" cap="none" strike="noStrike">
              <a:solidFill>
                <a:schemeClr val="dk1"/>
              </a:solidFill>
              <a:latin typeface="Calibri"/>
              <a:ea typeface="Calibri"/>
              <a:cs typeface="Calibri"/>
              <a:sym typeface="Calibri"/>
            </a:endParaRPr>
          </a:p>
        </p:txBody>
      </p:sp>
      <p:sp>
        <p:nvSpPr>
          <p:cNvPr id="93" name="Google Shape;93;p17"/>
          <p:cNvSpPr txBox="1"/>
          <p:nvPr/>
        </p:nvSpPr>
        <p:spPr>
          <a:xfrm>
            <a:off x="685800" y="172821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AC4"/>
              </a:buClr>
              <a:buSzPts val="1200"/>
              <a:buFont typeface="Courier New"/>
              <a:buNone/>
            </a:pPr>
            <a:r>
              <a:rPr b="1" i="0" lang="en-GB" sz="1200" u="none" cap="none" strike="noStrike">
                <a:solidFill>
                  <a:srgbClr val="8FAAC4"/>
                </a:solidFill>
                <a:latin typeface="Courier New"/>
                <a:ea typeface="Courier New"/>
                <a:cs typeface="Courier New"/>
                <a:sym typeface="Courier New"/>
              </a:rPr>
              <a:t>      </a:t>
            </a:r>
            <a:r>
              <a:rPr b="0" i="0" lang="en-GB" sz="1200" u="none" cap="none" strike="noStrike">
                <a:solidFill>
                  <a:srgbClr val="55677A"/>
                </a:solidFill>
                <a:latin typeface="Calibri"/>
                <a:ea typeface="Calibri"/>
                <a:cs typeface="Calibri"/>
                <a:sym typeface="Calibri"/>
              </a:rPr>
              <a:t>· · ·</a:t>
            </a:r>
            <a:endParaRPr b="0" i="0" sz="1200" u="none" cap="none" strike="noStrike">
              <a:solidFill>
                <a:schemeClr val="dk1"/>
              </a:solidFill>
              <a:latin typeface="Calibri"/>
              <a:ea typeface="Calibri"/>
              <a:cs typeface="Calibri"/>
              <a:sym typeface="Calibri"/>
            </a:endParaRPr>
          </a:p>
        </p:txBody>
      </p:sp>
      <p:sp>
        <p:nvSpPr>
          <p:cNvPr id="94" name="Google Shape;94;p17"/>
          <p:cNvSpPr txBox="1"/>
          <p:nvPr/>
        </p:nvSpPr>
        <p:spPr>
          <a:xfrm>
            <a:off x="685800" y="1975104"/>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200"/>
              <a:buFont typeface="Courier New"/>
              <a:buNone/>
            </a:pPr>
            <a:r>
              <a:rPr b="1" i="0" lang="en-GB" sz="1200" u="none" cap="none" strike="noStrike">
                <a:solidFill>
                  <a:srgbClr val="C8553D"/>
                </a:solidFill>
                <a:latin typeface="Courier New"/>
                <a:ea typeface="Courier New"/>
                <a:cs typeface="Courier New"/>
                <a:sym typeface="Courier New"/>
              </a:rPr>
              <a:t>CHI   </a:t>
            </a:r>
            <a:r>
              <a:rPr b="0" i="0" lang="en-GB" sz="1200" u="none" cap="none" strike="noStrike">
                <a:solidFill>
                  <a:srgbClr val="FFFFFF"/>
                </a:solidFill>
                <a:latin typeface="Calibri"/>
                <a:ea typeface="Calibri"/>
                <a:cs typeface="Calibri"/>
                <a:sym typeface="Calibri"/>
              </a:rPr>
              <a:t>here comes a red one</a:t>
            </a:r>
            <a:endParaRPr b="0" i="0" sz="1200" u="none" cap="none" strike="noStrike">
              <a:solidFill>
                <a:schemeClr val="dk1"/>
              </a:solidFill>
              <a:latin typeface="Calibri"/>
              <a:ea typeface="Calibri"/>
              <a:cs typeface="Calibri"/>
              <a:sym typeface="Calibri"/>
            </a:endParaRPr>
          </a:p>
        </p:txBody>
      </p:sp>
      <p:sp>
        <p:nvSpPr>
          <p:cNvPr id="95" name="Google Shape;95;p17"/>
          <p:cNvSpPr txBox="1"/>
          <p:nvPr/>
        </p:nvSpPr>
        <p:spPr>
          <a:xfrm>
            <a:off x="685800" y="2221992"/>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AC4"/>
              </a:buClr>
              <a:buSzPts val="1200"/>
              <a:buFont typeface="Courier New"/>
              <a:buNone/>
            </a:pPr>
            <a:r>
              <a:rPr b="1" i="0" lang="en-GB" sz="1200" u="none" cap="none" strike="noStrike">
                <a:solidFill>
                  <a:srgbClr val="8FAAC4"/>
                </a:solidFill>
                <a:latin typeface="Courier New"/>
                <a:ea typeface="Courier New"/>
                <a:cs typeface="Courier New"/>
                <a:sym typeface="Courier New"/>
              </a:rPr>
              <a:t>      </a:t>
            </a:r>
            <a:r>
              <a:rPr b="0" i="0" lang="en-GB" sz="1200" u="none" cap="none" strike="noStrike">
                <a:solidFill>
                  <a:srgbClr val="55677A"/>
                </a:solidFill>
                <a:latin typeface="Calibri"/>
                <a:ea typeface="Calibri"/>
                <a:cs typeface="Calibri"/>
                <a:sym typeface="Calibri"/>
              </a:rPr>
              <a:t>· · ·</a:t>
            </a:r>
            <a:endParaRPr b="0" i="0" sz="1200" u="none" cap="none" strike="noStrike">
              <a:solidFill>
                <a:schemeClr val="dk1"/>
              </a:solidFill>
              <a:latin typeface="Calibri"/>
              <a:ea typeface="Calibri"/>
              <a:cs typeface="Calibri"/>
              <a:sym typeface="Calibri"/>
            </a:endParaRPr>
          </a:p>
        </p:txBody>
      </p:sp>
      <p:sp>
        <p:nvSpPr>
          <p:cNvPr id="96" name="Google Shape;96;p17"/>
          <p:cNvSpPr txBox="1"/>
          <p:nvPr/>
        </p:nvSpPr>
        <p:spPr>
          <a:xfrm>
            <a:off x="685800" y="2468880"/>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200"/>
              <a:buFont typeface="Courier New"/>
              <a:buNone/>
            </a:pPr>
            <a:r>
              <a:rPr b="1" i="0" lang="en-GB" sz="1200" u="none" cap="none" strike="noStrike">
                <a:solidFill>
                  <a:srgbClr val="C8553D"/>
                </a:solidFill>
                <a:latin typeface="Courier New"/>
                <a:ea typeface="Courier New"/>
                <a:cs typeface="Courier New"/>
                <a:sym typeface="Courier New"/>
              </a:rPr>
              <a:t>CHI   </a:t>
            </a:r>
            <a:r>
              <a:rPr b="0" i="0" lang="en-GB" sz="1200" u="none" cap="none" strike="noStrike">
                <a:solidFill>
                  <a:srgbClr val="FFFFFF"/>
                </a:solidFill>
                <a:latin typeface="Calibri"/>
                <a:ea typeface="Calibri"/>
                <a:cs typeface="Calibri"/>
                <a:sym typeface="Calibri"/>
              </a:rPr>
              <a:t>here comes a red one</a:t>
            </a:r>
            <a:endParaRPr b="0" i="0" sz="1200" u="none" cap="none" strike="noStrike">
              <a:solidFill>
                <a:schemeClr val="dk1"/>
              </a:solidFill>
              <a:latin typeface="Calibri"/>
              <a:ea typeface="Calibri"/>
              <a:cs typeface="Calibri"/>
              <a:sym typeface="Calibri"/>
            </a:endParaRPr>
          </a:p>
        </p:txBody>
      </p:sp>
      <p:sp>
        <p:nvSpPr>
          <p:cNvPr id="97" name="Google Shape;97;p17"/>
          <p:cNvSpPr txBox="1"/>
          <p:nvPr/>
        </p:nvSpPr>
        <p:spPr>
          <a:xfrm>
            <a:off x="685800" y="2715768"/>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AC4"/>
              </a:buClr>
              <a:buSzPts val="1200"/>
              <a:buFont typeface="Courier New"/>
              <a:buNone/>
            </a:pPr>
            <a:r>
              <a:rPr b="1" i="0" lang="en-GB" sz="1200" u="none" cap="none" strike="noStrike">
                <a:solidFill>
                  <a:srgbClr val="8FAAC4"/>
                </a:solidFill>
                <a:latin typeface="Courier New"/>
                <a:ea typeface="Courier New"/>
                <a:cs typeface="Courier New"/>
                <a:sym typeface="Courier New"/>
              </a:rPr>
              <a:t>      </a:t>
            </a:r>
            <a:r>
              <a:rPr b="0" i="0" lang="en-GB" sz="1200" u="none" cap="none" strike="noStrike">
                <a:solidFill>
                  <a:srgbClr val="55677A"/>
                </a:solidFill>
                <a:latin typeface="Calibri"/>
                <a:ea typeface="Calibri"/>
                <a:cs typeface="Calibri"/>
                <a:sym typeface="Calibri"/>
              </a:rPr>
              <a:t>· · ·</a:t>
            </a:r>
            <a:endParaRPr b="0" i="0" sz="1200" u="none" cap="none" strike="noStrike">
              <a:solidFill>
                <a:schemeClr val="dk1"/>
              </a:solidFill>
              <a:latin typeface="Calibri"/>
              <a:ea typeface="Calibri"/>
              <a:cs typeface="Calibri"/>
              <a:sym typeface="Calibri"/>
            </a:endParaRPr>
          </a:p>
        </p:txBody>
      </p:sp>
      <p:sp>
        <p:nvSpPr>
          <p:cNvPr id="98" name="Google Shape;98;p17"/>
          <p:cNvSpPr txBox="1"/>
          <p:nvPr/>
        </p:nvSpPr>
        <p:spPr>
          <a:xfrm>
            <a:off x="685800" y="296265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200"/>
              <a:buFont typeface="Courier New"/>
              <a:buNone/>
            </a:pPr>
            <a:r>
              <a:rPr b="1" i="0" lang="en-GB" sz="1200" u="none" cap="none" strike="noStrike">
                <a:solidFill>
                  <a:srgbClr val="C8553D"/>
                </a:solidFill>
                <a:latin typeface="Courier New"/>
                <a:ea typeface="Courier New"/>
                <a:cs typeface="Courier New"/>
                <a:sym typeface="Courier New"/>
              </a:rPr>
              <a:t>CHI   </a:t>
            </a:r>
            <a:r>
              <a:rPr b="0" i="0" lang="en-GB" sz="1200" u="none" cap="none" strike="noStrike">
                <a:solidFill>
                  <a:srgbClr val="FFFFFF"/>
                </a:solidFill>
                <a:latin typeface="Calibri"/>
                <a:ea typeface="Calibri"/>
                <a:cs typeface="Calibri"/>
                <a:sym typeface="Calibri"/>
              </a:rPr>
              <a:t>here comes a red one</a:t>
            </a:r>
            <a:endParaRPr b="0" i="0" sz="1200" u="none" cap="none" strike="noStrike">
              <a:solidFill>
                <a:schemeClr val="dk1"/>
              </a:solidFill>
              <a:latin typeface="Calibri"/>
              <a:ea typeface="Calibri"/>
              <a:cs typeface="Calibri"/>
              <a:sym typeface="Calibri"/>
            </a:endParaRPr>
          </a:p>
        </p:txBody>
      </p:sp>
      <p:sp>
        <p:nvSpPr>
          <p:cNvPr id="99" name="Google Shape;99;p17"/>
          <p:cNvSpPr txBox="1"/>
          <p:nvPr/>
        </p:nvSpPr>
        <p:spPr>
          <a:xfrm>
            <a:off x="685800" y="3209544"/>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AC4"/>
              </a:buClr>
              <a:buSzPts val="1200"/>
              <a:buFont typeface="Courier New"/>
              <a:buNone/>
            </a:pPr>
            <a:r>
              <a:rPr b="1" i="0" lang="en-GB" sz="1200" u="none" cap="none" strike="noStrike">
                <a:solidFill>
                  <a:srgbClr val="8FAAC4"/>
                </a:solidFill>
                <a:latin typeface="Courier New"/>
                <a:ea typeface="Courier New"/>
                <a:cs typeface="Courier New"/>
                <a:sym typeface="Courier New"/>
              </a:rPr>
              <a:t>      </a:t>
            </a:r>
            <a:r>
              <a:rPr b="0" i="0" lang="en-GB" sz="1200" u="none" cap="none" strike="noStrike">
                <a:solidFill>
                  <a:srgbClr val="55677A"/>
                </a:solidFill>
                <a:latin typeface="Calibri"/>
                <a:ea typeface="Calibri"/>
                <a:cs typeface="Calibri"/>
                <a:sym typeface="Calibri"/>
              </a:rPr>
              <a:t>· · ·</a:t>
            </a:r>
            <a:endParaRPr b="0" i="0" sz="1200" u="none" cap="none" strike="noStrike">
              <a:solidFill>
                <a:schemeClr val="dk1"/>
              </a:solidFill>
              <a:latin typeface="Calibri"/>
              <a:ea typeface="Calibri"/>
              <a:cs typeface="Calibri"/>
              <a:sym typeface="Calibri"/>
            </a:endParaRPr>
          </a:p>
        </p:txBody>
      </p:sp>
      <p:sp>
        <p:nvSpPr>
          <p:cNvPr id="100" name="Google Shape;100;p17"/>
          <p:cNvSpPr txBox="1"/>
          <p:nvPr/>
        </p:nvSpPr>
        <p:spPr>
          <a:xfrm>
            <a:off x="685800" y="3456432"/>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3D"/>
              </a:buClr>
              <a:buSzPts val="1200"/>
              <a:buFont typeface="Courier New"/>
              <a:buNone/>
            </a:pPr>
            <a:r>
              <a:rPr b="1" i="0" lang="en-GB" sz="1200" u="none" cap="none" strike="noStrike">
                <a:solidFill>
                  <a:srgbClr val="C8553D"/>
                </a:solidFill>
                <a:latin typeface="Courier New"/>
                <a:ea typeface="Courier New"/>
                <a:cs typeface="Courier New"/>
                <a:sym typeface="Courier New"/>
              </a:rPr>
              <a:t>CHI   </a:t>
            </a:r>
            <a:r>
              <a:rPr b="0" i="0" lang="en-GB" sz="1200" u="none" cap="none" strike="noStrike">
                <a:solidFill>
                  <a:srgbClr val="FFFFFF"/>
                </a:solidFill>
                <a:latin typeface="Calibri"/>
                <a:ea typeface="Calibri"/>
                <a:cs typeface="Calibri"/>
                <a:sym typeface="Calibri"/>
              </a:rPr>
              <a:t>here comes a red one</a:t>
            </a:r>
            <a:endParaRPr b="0" i="0" sz="1200" u="none" cap="none" strike="noStrike">
              <a:solidFill>
                <a:schemeClr val="dk1"/>
              </a:solidFill>
              <a:latin typeface="Calibri"/>
              <a:ea typeface="Calibri"/>
              <a:cs typeface="Calibri"/>
              <a:sym typeface="Calibri"/>
            </a:endParaRPr>
          </a:p>
        </p:txBody>
      </p:sp>
      <p:sp>
        <p:nvSpPr>
          <p:cNvPr id="101" name="Google Shape;101;p17"/>
          <p:cNvSpPr txBox="1"/>
          <p:nvPr/>
        </p:nvSpPr>
        <p:spPr>
          <a:xfrm>
            <a:off x="685800" y="3749040"/>
            <a:ext cx="2834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BCC5"/>
              </a:buClr>
              <a:buSzPts val="900"/>
              <a:buFont typeface="Calibri"/>
              <a:buNone/>
            </a:pPr>
            <a:r>
              <a:rPr b="0" i="1" lang="en-GB" sz="900" u="none" cap="none" strike="noStrike">
                <a:solidFill>
                  <a:srgbClr val="B3BCC5"/>
                </a:solidFill>
                <a:latin typeface="Calibri"/>
                <a:ea typeface="Calibri"/>
                <a:cs typeface="Calibri"/>
                <a:sym typeface="Calibri"/>
              </a:rPr>
              <a:t>· · · = turns by other speakers. Four echoes over 15 turns: full alignment. Most alignment is subtler than this.</a:t>
            </a:r>
            <a:endParaRPr b="0" i="0" sz="900" u="none" cap="none" strike="noStrike">
              <a:solidFill>
                <a:schemeClr val="dk1"/>
              </a:solidFill>
              <a:latin typeface="Calibri"/>
              <a:ea typeface="Calibri"/>
              <a:cs typeface="Calibri"/>
              <a:sym typeface="Calibri"/>
            </a:endParaRPr>
          </a:p>
        </p:txBody>
      </p:sp>
      <p:sp>
        <p:nvSpPr>
          <p:cNvPr id="102" name="Google Shape;102;p17"/>
          <p:cNvSpPr/>
          <p:nvPr/>
        </p:nvSpPr>
        <p:spPr>
          <a:xfrm>
            <a:off x="4114800" y="1143000"/>
            <a:ext cx="457200" cy="457200"/>
          </a:xfrm>
          <a:prstGeom prst="ellipse">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txBox="1"/>
          <p:nvPr/>
        </p:nvSpPr>
        <p:spPr>
          <a:xfrm>
            <a:off x="4114800" y="11430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GB" sz="1600" u="none" cap="none" strike="noStrike">
                <a:solidFill>
                  <a:srgbClr val="FFFFFF"/>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104" name="Google Shape;104;p17"/>
          <p:cNvSpPr txBox="1"/>
          <p:nvPr/>
        </p:nvSpPr>
        <p:spPr>
          <a:xfrm>
            <a:off x="4754880" y="1124712"/>
            <a:ext cx="3931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600"/>
              <a:buFont typeface="Cambria"/>
              <a:buNone/>
            </a:pPr>
            <a:r>
              <a:rPr b="1" i="0" lang="en-GB" sz="1600" u="none" cap="none" strike="noStrike">
                <a:solidFill>
                  <a:srgbClr val="1E2A3B"/>
                </a:solidFill>
                <a:latin typeface="Cambria"/>
                <a:ea typeface="Cambria"/>
                <a:cs typeface="Cambria"/>
                <a:sym typeface="Cambria"/>
              </a:rPr>
              <a:t>Calculate alignment score</a:t>
            </a:r>
            <a:endParaRPr b="0" i="0" sz="1600" u="none" cap="none" strike="noStrike">
              <a:solidFill>
                <a:schemeClr val="dk1"/>
              </a:solidFill>
              <a:latin typeface="Calibri"/>
              <a:ea typeface="Calibri"/>
              <a:cs typeface="Calibri"/>
              <a:sym typeface="Calibri"/>
            </a:endParaRPr>
          </a:p>
        </p:txBody>
      </p:sp>
      <p:sp>
        <p:nvSpPr>
          <p:cNvPr id="105" name="Google Shape;105;p17"/>
          <p:cNvSpPr txBox="1"/>
          <p:nvPr/>
        </p:nvSpPr>
        <p:spPr>
          <a:xfrm>
            <a:off x="4754880" y="1472184"/>
            <a:ext cx="39319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785"/>
              </a:buClr>
              <a:buSzPts val="1200"/>
              <a:buFont typeface="Calibri"/>
              <a:buNone/>
            </a:pPr>
            <a:r>
              <a:rPr b="0" i="0" lang="en-GB" sz="1200" u="none" cap="none" strike="noStrike">
                <a:solidFill>
                  <a:srgbClr val="6B7785"/>
                </a:solidFill>
                <a:latin typeface="Calibri"/>
                <a:ea typeface="Calibri"/>
                <a:cs typeface="Calibri"/>
                <a:sym typeface="Calibri"/>
              </a:rPr>
              <a:t>Each child turn vs. every speaker’s most recent turn, using BERTScore (meaning, not exact words)</a:t>
            </a:r>
            <a:endParaRPr b="0" i="0" sz="1200" u="none" cap="none" strike="noStrike">
              <a:solidFill>
                <a:schemeClr val="dk1"/>
              </a:solidFill>
              <a:latin typeface="Calibri"/>
              <a:ea typeface="Calibri"/>
              <a:cs typeface="Calibri"/>
              <a:sym typeface="Calibri"/>
            </a:endParaRPr>
          </a:p>
        </p:txBody>
      </p:sp>
      <p:sp>
        <p:nvSpPr>
          <p:cNvPr id="106" name="Google Shape;106;p17"/>
          <p:cNvSpPr/>
          <p:nvPr/>
        </p:nvSpPr>
        <p:spPr>
          <a:xfrm>
            <a:off x="4114800" y="2331720"/>
            <a:ext cx="457200" cy="457200"/>
          </a:xfrm>
          <a:prstGeom prst="ellipse">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txBox="1"/>
          <p:nvPr/>
        </p:nvSpPr>
        <p:spPr>
          <a:xfrm>
            <a:off x="4114800" y="23317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GB" sz="1600" u="none" cap="none" strike="noStrike">
                <a:solidFill>
                  <a:srgbClr val="FFFFFF"/>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108" name="Google Shape;108;p17"/>
          <p:cNvSpPr txBox="1"/>
          <p:nvPr/>
        </p:nvSpPr>
        <p:spPr>
          <a:xfrm>
            <a:off x="4754880" y="2313432"/>
            <a:ext cx="3931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600"/>
              <a:buFont typeface="Cambria"/>
              <a:buNone/>
            </a:pPr>
            <a:r>
              <a:rPr b="1" i="0" lang="en-GB" sz="1600" u="none" cap="none" strike="noStrike">
                <a:solidFill>
                  <a:srgbClr val="1E2A3B"/>
                </a:solidFill>
                <a:latin typeface="Cambria"/>
                <a:ea typeface="Cambria"/>
                <a:cs typeface="Cambria"/>
                <a:sym typeface="Cambria"/>
              </a:rPr>
              <a:t>Compare to chance</a:t>
            </a:r>
            <a:endParaRPr b="0" i="0" sz="1600" u="none" cap="none" strike="noStrike">
              <a:solidFill>
                <a:schemeClr val="dk1"/>
              </a:solidFill>
              <a:latin typeface="Calibri"/>
              <a:ea typeface="Calibri"/>
              <a:cs typeface="Calibri"/>
              <a:sym typeface="Calibri"/>
            </a:endParaRPr>
          </a:p>
        </p:txBody>
      </p:sp>
      <p:sp>
        <p:nvSpPr>
          <p:cNvPr id="109" name="Google Shape;109;p17"/>
          <p:cNvSpPr txBox="1"/>
          <p:nvPr/>
        </p:nvSpPr>
        <p:spPr>
          <a:xfrm>
            <a:off x="4754880" y="2660904"/>
            <a:ext cx="39319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785"/>
              </a:buClr>
              <a:buSzPts val="1200"/>
              <a:buFont typeface="Calibri"/>
              <a:buNone/>
            </a:pPr>
            <a:r>
              <a:rPr b="0" i="0" lang="en-GB" sz="1200" u="none" cap="none" strike="noStrike">
                <a:solidFill>
                  <a:srgbClr val="6B7785"/>
                </a:solidFill>
                <a:latin typeface="Calibri"/>
                <a:ea typeface="Calibri"/>
                <a:cs typeface="Calibri"/>
                <a:sym typeface="Calibri"/>
              </a:rPr>
              <a:t>Only alignment beyond what unrelated turns would produce counts</a:t>
            </a:r>
            <a:endParaRPr b="0" i="0" sz="1200" u="none" cap="none" strike="noStrike">
              <a:solidFill>
                <a:schemeClr val="dk1"/>
              </a:solidFill>
              <a:latin typeface="Calibri"/>
              <a:ea typeface="Calibri"/>
              <a:cs typeface="Calibri"/>
              <a:sym typeface="Calibri"/>
            </a:endParaRPr>
          </a:p>
        </p:txBody>
      </p:sp>
      <p:sp>
        <p:nvSpPr>
          <p:cNvPr id="110" name="Google Shape;110;p17"/>
          <p:cNvSpPr/>
          <p:nvPr/>
        </p:nvSpPr>
        <p:spPr>
          <a:xfrm>
            <a:off x="4114800" y="3520440"/>
            <a:ext cx="457200" cy="457200"/>
          </a:xfrm>
          <a:prstGeom prst="ellipse">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txBox="1"/>
          <p:nvPr/>
        </p:nvSpPr>
        <p:spPr>
          <a:xfrm>
            <a:off x="4114800" y="35204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GB" sz="1600" u="none" cap="none" strike="noStrike">
                <a:solidFill>
                  <a:srgbClr val="FFFFFF"/>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112" name="Google Shape;112;p17"/>
          <p:cNvSpPr txBox="1"/>
          <p:nvPr/>
        </p:nvSpPr>
        <p:spPr>
          <a:xfrm>
            <a:off x="4754880" y="3502152"/>
            <a:ext cx="3931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600"/>
              <a:buFont typeface="Cambria"/>
              <a:buNone/>
            </a:pPr>
            <a:r>
              <a:rPr b="1" i="0" lang="en-GB" sz="1600" u="none" cap="none" strike="noStrike">
                <a:solidFill>
                  <a:srgbClr val="1E2A3B"/>
                </a:solidFill>
                <a:latin typeface="Cambria"/>
                <a:ea typeface="Cambria"/>
                <a:cs typeface="Cambria"/>
                <a:sym typeface="Cambria"/>
              </a:rPr>
              <a:t>Decide</a:t>
            </a:r>
            <a:endParaRPr b="0" i="0" sz="1600" u="none" cap="none" strike="noStrike">
              <a:solidFill>
                <a:schemeClr val="dk1"/>
              </a:solidFill>
              <a:latin typeface="Calibri"/>
              <a:ea typeface="Calibri"/>
              <a:cs typeface="Calibri"/>
              <a:sym typeface="Calibri"/>
            </a:endParaRPr>
          </a:p>
        </p:txBody>
      </p:sp>
      <p:sp>
        <p:nvSpPr>
          <p:cNvPr id="113" name="Google Shape;113;p17"/>
          <p:cNvSpPr txBox="1"/>
          <p:nvPr/>
        </p:nvSpPr>
        <p:spPr>
          <a:xfrm>
            <a:off x="4754880" y="3849624"/>
            <a:ext cx="39319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A3B"/>
              </a:buClr>
              <a:buSzPts val="1250"/>
              <a:buFont typeface="Calibri"/>
              <a:buNone/>
            </a:pPr>
            <a:r>
              <a:rPr b="1" i="0" lang="en-GB" sz="1250" u="none" cap="none" strike="noStrike">
                <a:solidFill>
                  <a:srgbClr val="1E2A3B"/>
                </a:solidFill>
                <a:latin typeface="Calibri"/>
                <a:ea typeface="Calibri"/>
                <a:cs typeface="Calibri"/>
                <a:sym typeface="Calibri"/>
              </a:rPr>
              <a:t>Multiparty with the child included = the child aligns above chance with 2+ different speakers in one stretch</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nvSpPr>
        <p:spPr>
          <a:xfrm>
            <a:off x="457200" y="18288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2200"/>
              <a:buFont typeface="Cambria"/>
              <a:buNone/>
            </a:pPr>
            <a:r>
              <a:rPr b="1" i="0" lang="en-GB" sz="2200" u="none" cap="none" strike="noStrike">
                <a:solidFill>
                  <a:srgbClr val="1E2A3B"/>
                </a:solidFill>
                <a:latin typeface="Cambria"/>
                <a:ea typeface="Cambria"/>
                <a:cs typeface="Cambria"/>
                <a:sym typeface="Cambria"/>
              </a:rPr>
              <a:t>How well does the pipeline perform?  94 hand-labelled clips</a:t>
            </a:r>
            <a:endParaRPr b="0" i="0" sz="2200" u="none" cap="none" strike="noStrike">
              <a:solidFill>
                <a:schemeClr val="dk1"/>
              </a:solidFill>
              <a:latin typeface="Calibri"/>
              <a:ea typeface="Calibri"/>
              <a:cs typeface="Calibri"/>
              <a:sym typeface="Calibri"/>
            </a:endParaRPr>
          </a:p>
        </p:txBody>
      </p:sp>
      <p:sp>
        <p:nvSpPr>
          <p:cNvPr id="120" name="Google Shape;120;p18"/>
          <p:cNvSpPr txBox="1"/>
          <p:nvPr/>
        </p:nvSpPr>
        <p:spPr>
          <a:xfrm>
            <a:off x="457200" y="530352"/>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785"/>
              </a:buClr>
              <a:buSzPts val="1050"/>
              <a:buFont typeface="Calibri"/>
              <a:buNone/>
            </a:pPr>
            <a:r>
              <a:rPr b="0" i="1" lang="en-GB" sz="1050" u="none" cap="none" strike="noStrike">
                <a:solidFill>
                  <a:srgbClr val="6B7785"/>
                </a:solidFill>
                <a:latin typeface="Calibri"/>
                <a:ea typeface="Calibri"/>
                <a:cs typeface="Calibri"/>
                <a:sym typeface="Calibri"/>
              </a:rPr>
              <a:t>Hand labels mark only whether the child is engaged in multiparty talk; “no multiparty with child” clips may still contain multiparty talk among others.</a:t>
            </a:r>
            <a:endParaRPr b="0" i="0" sz="1050" u="none" cap="none" strike="noStrike">
              <a:solidFill>
                <a:schemeClr val="dk1"/>
              </a:solidFill>
              <a:latin typeface="Calibri"/>
              <a:ea typeface="Calibri"/>
              <a:cs typeface="Calibri"/>
              <a:sym typeface="Calibri"/>
            </a:endParaRPr>
          </a:p>
        </p:txBody>
      </p:sp>
      <p:pic>
        <p:nvPicPr>
          <p:cNvPr descr="/home/claude/deck/alluvial_flipped.png" id="121" name="Google Shape;121;p18"/>
          <p:cNvPicPr preferRelativeResize="0"/>
          <p:nvPr/>
        </p:nvPicPr>
        <p:blipFill rotWithShape="1">
          <a:blip r:embed="rId3">
            <a:alphaModFix/>
          </a:blip>
          <a:srcRect b="0" l="0" r="0" t="0"/>
          <a:stretch/>
        </p:blipFill>
        <p:spPr>
          <a:xfrm>
            <a:off x="320040" y="822960"/>
            <a:ext cx="7680960" cy="4206241"/>
          </a:xfrm>
          <a:prstGeom prst="rect">
            <a:avLst/>
          </a:prstGeom>
          <a:noFill/>
          <a:ln>
            <a:noFill/>
          </a:ln>
        </p:spPr>
      </p:pic>
      <p:sp>
        <p:nvSpPr>
          <p:cNvPr id="122" name="Google Shape;122;p18"/>
          <p:cNvSpPr/>
          <p:nvPr/>
        </p:nvSpPr>
        <p:spPr>
          <a:xfrm>
            <a:off x="628825" y="3305375"/>
            <a:ext cx="967500" cy="580800"/>
          </a:xfrm>
          <a:prstGeom prst="rect">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8"/>
          <p:cNvSpPr txBox="1"/>
          <p:nvPr/>
        </p:nvSpPr>
        <p:spPr>
          <a:xfrm>
            <a:off x="628825" y="3369876"/>
            <a:ext cx="1032600" cy="33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108"/>
              <a:buFont typeface="Cambria"/>
              <a:buNone/>
            </a:pPr>
            <a:r>
              <a:rPr b="1" i="0" lang="en-GB" sz="2108" u="none" cap="none" strike="noStrike">
                <a:solidFill>
                  <a:srgbClr val="FFFFFF"/>
                </a:solidFill>
                <a:latin typeface="Cambria"/>
                <a:ea typeface="Cambria"/>
                <a:cs typeface="Cambria"/>
                <a:sym typeface="Cambria"/>
              </a:rPr>
              <a:t>82%</a:t>
            </a:r>
            <a:endParaRPr b="0" i="0" sz="2108" u="none" cap="none" strike="noStrike">
              <a:solidFill>
                <a:schemeClr val="dk1"/>
              </a:solidFill>
              <a:latin typeface="Calibri"/>
              <a:ea typeface="Calibri"/>
              <a:cs typeface="Calibri"/>
              <a:sym typeface="Calibri"/>
            </a:endParaRPr>
          </a:p>
        </p:txBody>
      </p:sp>
      <p:sp>
        <p:nvSpPr>
          <p:cNvPr id="124" name="Google Shape;124;p18"/>
          <p:cNvSpPr txBox="1"/>
          <p:nvPr/>
        </p:nvSpPr>
        <p:spPr>
          <a:xfrm>
            <a:off x="628825" y="3679666"/>
            <a:ext cx="1032600" cy="20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28"/>
              <a:buFont typeface="Calibri"/>
              <a:buNone/>
            </a:pPr>
            <a:r>
              <a:rPr b="0" i="0" lang="en-GB" sz="828" u="none" cap="none" strike="noStrike">
                <a:solidFill>
                  <a:srgbClr val="FFFFFF"/>
                </a:solidFill>
                <a:latin typeface="Calibri"/>
                <a:ea typeface="Calibri"/>
                <a:cs typeface="Calibri"/>
                <a:sym typeface="Calibri"/>
              </a:rPr>
              <a:t>precision</a:t>
            </a:r>
            <a:endParaRPr b="0" i="0" sz="828"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2600"/>
              <a:buFont typeface="Cambria"/>
              <a:buNone/>
            </a:pPr>
            <a:r>
              <a:rPr b="1" i="0" lang="en-GB" sz="2600" u="none" cap="none" strike="noStrike">
                <a:solidFill>
                  <a:srgbClr val="1E2A3B"/>
                </a:solidFill>
                <a:latin typeface="Cambria"/>
                <a:ea typeface="Cambria"/>
                <a:cs typeface="Cambria"/>
                <a:sym typeface="Cambria"/>
              </a:rPr>
              <a:t>A closer look at the errors</a:t>
            </a:r>
            <a:endParaRPr b="0" i="0" sz="2600" u="none" cap="none" strike="noStrike">
              <a:solidFill>
                <a:schemeClr val="dk1"/>
              </a:solidFill>
              <a:latin typeface="Calibri"/>
              <a:ea typeface="Calibri"/>
              <a:cs typeface="Calibri"/>
              <a:sym typeface="Calibri"/>
            </a:endParaRPr>
          </a:p>
        </p:txBody>
      </p:sp>
      <p:sp>
        <p:nvSpPr>
          <p:cNvPr id="131" name="Google Shape;131;p19"/>
          <p:cNvSpPr/>
          <p:nvPr/>
        </p:nvSpPr>
        <p:spPr>
          <a:xfrm>
            <a:off x="457200" y="1234440"/>
            <a:ext cx="8229600" cy="868680"/>
          </a:xfrm>
          <a:prstGeom prst="rect">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9"/>
          <p:cNvSpPr/>
          <p:nvPr/>
        </p:nvSpPr>
        <p:spPr>
          <a:xfrm>
            <a:off x="457200" y="1234440"/>
            <a:ext cx="109728" cy="868680"/>
          </a:xfrm>
          <a:prstGeom prst="rect">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9"/>
          <p:cNvSpPr txBox="1"/>
          <p:nvPr/>
        </p:nvSpPr>
        <p:spPr>
          <a:xfrm>
            <a:off x="777240" y="1234440"/>
            <a:ext cx="76809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800"/>
              <a:buFont typeface="Cambria"/>
              <a:buNone/>
            </a:pPr>
            <a:r>
              <a:rPr b="1" i="0" lang="en-GB" sz="1800" u="none" cap="none" strike="noStrike">
                <a:solidFill>
                  <a:srgbClr val="1E2A3B"/>
                </a:solidFill>
                <a:latin typeface="Cambria"/>
                <a:ea typeface="Cambria"/>
                <a:cs typeface="Cambria"/>
                <a:sym typeface="Cambria"/>
              </a:rPr>
              <a:t>False alarms </a:t>
            </a:r>
            <a:r>
              <a:rPr b="0" i="0" lang="en-GB" sz="1500" u="none" cap="none" strike="noStrike">
                <a:solidFill>
                  <a:srgbClr val="1E2A3B"/>
                </a:solidFill>
                <a:latin typeface="Calibri"/>
                <a:ea typeface="Calibri"/>
                <a:cs typeface="Calibri"/>
                <a:sym typeface="Calibri"/>
              </a:rPr>
              <a:t>were mostly label errors. 3 of 5 were real multiparty talk on re-listening.</a:t>
            </a:r>
            <a:endParaRPr b="0" i="0" sz="1800" u="none" cap="none" strike="noStrike">
              <a:solidFill>
                <a:schemeClr val="dk1"/>
              </a:solidFill>
              <a:latin typeface="Calibri"/>
              <a:ea typeface="Calibri"/>
              <a:cs typeface="Calibri"/>
              <a:sym typeface="Calibri"/>
            </a:endParaRPr>
          </a:p>
        </p:txBody>
      </p:sp>
      <p:sp>
        <p:nvSpPr>
          <p:cNvPr id="134" name="Google Shape;134;p19"/>
          <p:cNvSpPr/>
          <p:nvPr/>
        </p:nvSpPr>
        <p:spPr>
          <a:xfrm>
            <a:off x="457200" y="2331720"/>
            <a:ext cx="8229600" cy="868680"/>
          </a:xfrm>
          <a:prstGeom prst="rect">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p:nvPr/>
        </p:nvSpPr>
        <p:spPr>
          <a:xfrm>
            <a:off x="457200" y="2331720"/>
            <a:ext cx="109728" cy="868680"/>
          </a:xfrm>
          <a:prstGeom prst="rect">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txBox="1"/>
          <p:nvPr/>
        </p:nvSpPr>
        <p:spPr>
          <a:xfrm>
            <a:off x="777240" y="2331720"/>
            <a:ext cx="76809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800"/>
              <a:buFont typeface="Cambria"/>
              <a:buNone/>
            </a:pPr>
            <a:r>
              <a:rPr b="1" i="0" lang="en-GB" sz="1800" u="none" cap="none" strike="noStrike">
                <a:solidFill>
                  <a:srgbClr val="1E2A3B"/>
                </a:solidFill>
                <a:latin typeface="Cambria"/>
                <a:ea typeface="Cambria"/>
                <a:cs typeface="Cambria"/>
                <a:sym typeface="Cambria"/>
              </a:rPr>
              <a:t>Misses </a:t>
            </a:r>
            <a:r>
              <a:rPr b="0" i="0" lang="en-GB" sz="1500" u="none" cap="none" strike="noStrike">
                <a:solidFill>
                  <a:srgbClr val="1E2A3B"/>
                </a:solidFill>
                <a:latin typeface="Calibri"/>
                <a:ea typeface="Calibri"/>
                <a:cs typeface="Calibri"/>
                <a:sym typeface="Calibri"/>
              </a:rPr>
              <a:t>were real engagement, but in turns too short to score.</a:t>
            </a:r>
            <a:endParaRPr b="0" i="0" sz="1800" u="none" cap="none" strike="noStrike">
              <a:solidFill>
                <a:schemeClr val="dk1"/>
              </a:solidFill>
              <a:latin typeface="Calibri"/>
              <a:ea typeface="Calibri"/>
              <a:cs typeface="Calibri"/>
              <a:sym typeface="Calibri"/>
            </a:endParaRPr>
          </a:p>
        </p:txBody>
      </p:sp>
      <p:sp>
        <p:nvSpPr>
          <p:cNvPr id="137" name="Google Shape;137;p19"/>
          <p:cNvSpPr/>
          <p:nvPr/>
        </p:nvSpPr>
        <p:spPr>
          <a:xfrm>
            <a:off x="457200" y="3429000"/>
            <a:ext cx="8229600" cy="868680"/>
          </a:xfrm>
          <a:prstGeom prst="rect">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9"/>
          <p:cNvSpPr/>
          <p:nvPr/>
        </p:nvSpPr>
        <p:spPr>
          <a:xfrm>
            <a:off x="457200" y="3429000"/>
            <a:ext cx="109728" cy="868680"/>
          </a:xfrm>
          <a:prstGeom prst="rect">
            <a:avLst/>
          </a:prstGeom>
          <a:solidFill>
            <a:srgbClr val="C8553D"/>
          </a:solidFill>
          <a:ln cap="flat" cmpd="sng" w="12700">
            <a:solidFill>
              <a:srgbClr val="C855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txBox="1"/>
          <p:nvPr/>
        </p:nvSpPr>
        <p:spPr>
          <a:xfrm>
            <a:off x="777240" y="3429000"/>
            <a:ext cx="76809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3B"/>
              </a:buClr>
              <a:buSzPts val="1800"/>
              <a:buFont typeface="Cambria"/>
              <a:buNone/>
            </a:pPr>
            <a:r>
              <a:rPr b="1" i="0" lang="en-GB" sz="1800" u="none" cap="none" strike="noStrike">
                <a:solidFill>
                  <a:srgbClr val="1E2A3B"/>
                </a:solidFill>
                <a:latin typeface="Cambria"/>
                <a:ea typeface="Cambria"/>
                <a:cs typeface="Cambria"/>
                <a:sym typeface="Cambria"/>
              </a:rPr>
              <a:t>Half the clips </a:t>
            </a:r>
            <a:r>
              <a:rPr b="0" i="0" lang="en-GB" sz="1500" u="none" cap="none" strike="noStrike">
                <a:solidFill>
                  <a:srgbClr val="1E2A3B"/>
                </a:solidFill>
                <a:latin typeface="Calibri"/>
                <a:ea typeface="Calibri"/>
                <a:cs typeface="Calibri"/>
                <a:sym typeface="Calibri"/>
              </a:rPr>
              <a:t>can’t be judged at all, because the child produced no words.</a:t>
            </a:r>
            <a:endParaRPr b="0" i="0" sz="1800" u="none" cap="none" strike="noStrike">
              <a:solidFill>
                <a:schemeClr val="dk1"/>
              </a:solidFill>
              <a:latin typeface="Calibri"/>
              <a:ea typeface="Calibri"/>
              <a:cs typeface="Calibri"/>
              <a:sym typeface="Calibri"/>
            </a:endParaRPr>
          </a:p>
        </p:txBody>
      </p:sp>
      <p:sp>
        <p:nvSpPr>
          <p:cNvPr id="140" name="Google Shape;140;p19"/>
          <p:cNvSpPr txBox="1"/>
          <p:nvPr/>
        </p:nvSpPr>
        <p:spPr>
          <a:xfrm>
            <a:off x="457200" y="45720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785"/>
              </a:buClr>
              <a:buSzPts val="1050"/>
              <a:buFont typeface="Calibri"/>
              <a:buNone/>
            </a:pPr>
            <a:r>
              <a:rPr b="0" i="1" lang="en-GB" sz="1050" u="none" cap="none" strike="noStrike">
                <a:solidFill>
                  <a:srgbClr val="6B7785"/>
                </a:solidFill>
                <a:latin typeface="Calibri"/>
                <a:ea typeface="Calibri"/>
                <a:cs typeface="Calibri"/>
                <a:sym typeface="Calibri"/>
              </a:rPr>
              <a:t>On the 39 clips it can judge: 56% hit rate, 9% false alarm, 77% accuracy vs. 59% baseline.  Next: hand-verified test on 277 random clips from 63 families.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3B"/>
        </a:solidFill>
      </p:bgPr>
    </p:bg>
    <p:spTree>
      <p:nvGrpSpPr>
        <p:cNvPr id="145" name="Shape 145"/>
        <p:cNvGrpSpPr/>
        <p:nvPr/>
      </p:nvGrpSpPr>
      <p:grpSpPr>
        <a:xfrm>
          <a:off x="0" y="0"/>
          <a:ext cx="0" cy="0"/>
          <a:chOff x="0" y="0"/>
          <a:chExt cx="0" cy="0"/>
        </a:xfrm>
      </p:grpSpPr>
      <p:sp>
        <p:nvSpPr>
          <p:cNvPr id="146" name="Google Shape;146;p20"/>
          <p:cNvSpPr txBox="1"/>
          <p:nvPr/>
        </p:nvSpPr>
        <p:spPr>
          <a:xfrm>
            <a:off x="640080" y="54864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BCC5"/>
              </a:buClr>
              <a:buSzPts val="1000"/>
              <a:buFont typeface="Calibri"/>
              <a:buNone/>
            </a:pPr>
            <a:r>
              <a:rPr b="0" i="0" lang="en-GB" sz="1000" u="none" cap="none" strike="noStrike">
                <a:solidFill>
                  <a:srgbClr val="B3BCC5"/>
                </a:solidFill>
                <a:latin typeface="Calibri"/>
                <a:ea typeface="Calibri"/>
                <a:cs typeface="Calibri"/>
                <a:sym typeface="Calibri"/>
              </a:rPr>
              <a:t>FUTURE WORK</a:t>
            </a:r>
            <a:endParaRPr b="0" i="0" sz="1000" u="none" cap="none" strike="noStrike">
              <a:solidFill>
                <a:schemeClr val="dk1"/>
              </a:solidFill>
              <a:latin typeface="Calibri"/>
              <a:ea typeface="Calibri"/>
              <a:cs typeface="Calibri"/>
              <a:sym typeface="Calibri"/>
            </a:endParaRPr>
          </a:p>
        </p:txBody>
      </p:sp>
      <p:sp>
        <p:nvSpPr>
          <p:cNvPr id="147" name="Google Shape;147;p20"/>
          <p:cNvSpPr txBox="1"/>
          <p:nvPr/>
        </p:nvSpPr>
        <p:spPr>
          <a:xfrm>
            <a:off x="640080" y="822960"/>
            <a:ext cx="69494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GB" sz="2600" u="none" cap="none" strike="noStrike">
                <a:solidFill>
                  <a:srgbClr val="FFFFFF"/>
                </a:solidFill>
                <a:latin typeface="Cambria"/>
                <a:ea typeface="Cambria"/>
                <a:cs typeface="Cambria"/>
                <a:sym typeface="Cambria"/>
              </a:rPr>
              <a:t>How do we best capture multiparty talk in linguistic transcripts?</a:t>
            </a:r>
            <a:endParaRPr b="0" i="0" sz="2600" u="none" cap="none" strike="noStrike">
              <a:solidFill>
                <a:schemeClr val="dk1"/>
              </a:solidFill>
              <a:latin typeface="Calibri"/>
              <a:ea typeface="Calibri"/>
              <a:cs typeface="Calibri"/>
              <a:sym typeface="Calibri"/>
            </a:endParaRPr>
          </a:p>
        </p:txBody>
      </p:sp>
      <p:sp>
        <p:nvSpPr>
          <p:cNvPr id="148" name="Google Shape;148;p20"/>
          <p:cNvSpPr txBox="1"/>
          <p:nvPr/>
        </p:nvSpPr>
        <p:spPr>
          <a:xfrm>
            <a:off x="640080" y="173736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E6F0"/>
              </a:buClr>
              <a:buSzPts val="1400"/>
              <a:buFont typeface="Calibri"/>
              <a:buNone/>
            </a:pPr>
            <a:r>
              <a:rPr b="0" i="0" lang="en-GB" sz="1400" u="none" cap="none" strike="noStrike">
                <a:solidFill>
                  <a:srgbClr val="DCE6F0"/>
                </a:solidFill>
                <a:latin typeface="Calibri"/>
                <a:ea typeface="Calibri"/>
                <a:cs typeface="Calibri"/>
                <a:sym typeface="Calibri"/>
              </a:rPr>
              <a:t>By combining temporal and semantic alignment measures: neither is enough alone.</a:t>
            </a:r>
            <a:endParaRPr b="0" i="0" sz="1400" u="none" cap="none" strike="noStrike">
              <a:solidFill>
                <a:schemeClr val="dk1"/>
              </a:solidFill>
              <a:latin typeface="Calibri"/>
              <a:ea typeface="Calibri"/>
              <a:cs typeface="Calibri"/>
              <a:sym typeface="Calibri"/>
            </a:endParaRPr>
          </a:p>
        </p:txBody>
      </p:sp>
      <p:sp>
        <p:nvSpPr>
          <p:cNvPr id="149" name="Google Shape;149;p20"/>
          <p:cNvSpPr/>
          <p:nvPr/>
        </p:nvSpPr>
        <p:spPr>
          <a:xfrm>
            <a:off x="640080" y="2194560"/>
            <a:ext cx="3794760" cy="1234440"/>
          </a:xfrm>
          <a:prstGeom prst="rect">
            <a:avLst/>
          </a:prstGeom>
          <a:solidFill>
            <a:srgbClr val="2A3A4E"/>
          </a:solidFill>
          <a:ln cap="flat" cmpd="sng" w="12700">
            <a:solidFill>
              <a:srgbClr val="2A3A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0"/>
          <p:cNvSpPr/>
          <p:nvPr/>
        </p:nvSpPr>
        <p:spPr>
          <a:xfrm>
            <a:off x="4709160" y="2194560"/>
            <a:ext cx="3794760" cy="1234440"/>
          </a:xfrm>
          <a:prstGeom prst="rect">
            <a:avLst/>
          </a:prstGeom>
          <a:solidFill>
            <a:srgbClr val="2A3A4E"/>
          </a:solidFill>
          <a:ln cap="flat" cmpd="sng" w="12700">
            <a:solidFill>
              <a:srgbClr val="2A3A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txBox="1"/>
          <p:nvPr/>
        </p:nvSpPr>
        <p:spPr>
          <a:xfrm>
            <a:off x="822960" y="22860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AC4"/>
              </a:buClr>
              <a:buSzPts val="1050"/>
              <a:buFont typeface="Calibri"/>
              <a:buNone/>
            </a:pPr>
            <a:r>
              <a:rPr b="1" i="0" lang="en-GB" sz="1050" u="none" cap="none" strike="noStrike">
                <a:solidFill>
                  <a:srgbClr val="8FAAC4"/>
                </a:solidFill>
                <a:latin typeface="Calibri"/>
                <a:ea typeface="Calibri"/>
                <a:cs typeface="Calibri"/>
                <a:sym typeface="Calibri"/>
              </a:rPr>
              <a:t>PRIOR APPROACH  ·  timing only</a:t>
            </a:r>
            <a:endParaRPr b="0" i="0" sz="1050" u="none" cap="none" strike="noStrike">
              <a:solidFill>
                <a:schemeClr val="dk1"/>
              </a:solidFill>
              <a:latin typeface="Calibri"/>
              <a:ea typeface="Calibri"/>
              <a:cs typeface="Calibri"/>
              <a:sym typeface="Calibri"/>
            </a:endParaRPr>
          </a:p>
        </p:txBody>
      </p:sp>
      <p:sp>
        <p:nvSpPr>
          <p:cNvPr id="152" name="Google Shape;152;p20"/>
          <p:cNvSpPr txBox="1"/>
          <p:nvPr/>
        </p:nvSpPr>
        <p:spPr>
          <a:xfrm>
            <a:off x="822960" y="2560320"/>
            <a:ext cx="3474720" cy="7772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DCE6F0"/>
              </a:buClr>
              <a:buSzPts val="1300"/>
              <a:buFont typeface="Calibri"/>
              <a:buChar char="•"/>
            </a:pPr>
            <a:r>
              <a:rPr b="0" i="0" lang="en-GB" sz="1300" u="none" cap="none" strike="noStrike">
                <a:solidFill>
                  <a:srgbClr val="DCE6F0"/>
                </a:solidFill>
                <a:latin typeface="Calibri"/>
                <a:ea typeface="Calibri"/>
                <a:cs typeface="Calibri"/>
                <a:sym typeface="Calibri"/>
              </a:rPr>
              <a:t>sees every speaker, words or not</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DCE6F0"/>
              </a:buClr>
              <a:buSzPts val="1300"/>
              <a:buFont typeface="Calibri"/>
              <a:buChar char="•"/>
            </a:pPr>
            <a:r>
              <a:rPr b="0" i="0" lang="en-GB" sz="1300" u="none" cap="none" strike="noStrike">
                <a:solidFill>
                  <a:srgbClr val="DCE6F0"/>
                </a:solidFill>
                <a:latin typeface="Calibri"/>
                <a:ea typeface="Calibri"/>
                <a:cs typeface="Calibri"/>
                <a:sym typeface="Calibri"/>
              </a:rPr>
              <a:t>lumps overlapping talk, splits across pauses</a:t>
            </a:r>
            <a:endParaRPr b="0" i="0" sz="1300" u="none" cap="none" strike="noStrike">
              <a:solidFill>
                <a:schemeClr val="dk1"/>
              </a:solidFill>
              <a:latin typeface="Calibri"/>
              <a:ea typeface="Calibri"/>
              <a:cs typeface="Calibri"/>
              <a:sym typeface="Calibri"/>
            </a:endParaRPr>
          </a:p>
        </p:txBody>
      </p:sp>
      <p:sp>
        <p:nvSpPr>
          <p:cNvPr id="153" name="Google Shape;153;p20"/>
          <p:cNvSpPr txBox="1"/>
          <p:nvPr/>
        </p:nvSpPr>
        <p:spPr>
          <a:xfrm>
            <a:off x="4892040" y="22860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CFC3"/>
              </a:buClr>
              <a:buSzPts val="1050"/>
              <a:buFont typeface="Calibri"/>
              <a:buNone/>
            </a:pPr>
            <a:r>
              <a:rPr b="1" i="0" lang="en-GB" sz="1050" u="none" cap="none" strike="noStrike">
                <a:solidFill>
                  <a:srgbClr val="F3CFC3"/>
                </a:solidFill>
                <a:latin typeface="Calibri"/>
                <a:ea typeface="Calibri"/>
                <a:cs typeface="Calibri"/>
                <a:sym typeface="Calibri"/>
              </a:rPr>
              <a:t>CURRENT APPROACH  ·  alignment only</a:t>
            </a:r>
            <a:endParaRPr b="0" i="0" sz="1050" u="none" cap="none" strike="noStrike">
              <a:solidFill>
                <a:schemeClr val="dk1"/>
              </a:solidFill>
              <a:latin typeface="Calibri"/>
              <a:ea typeface="Calibri"/>
              <a:cs typeface="Calibri"/>
              <a:sym typeface="Calibri"/>
            </a:endParaRPr>
          </a:p>
        </p:txBody>
      </p:sp>
      <p:sp>
        <p:nvSpPr>
          <p:cNvPr id="154" name="Google Shape;154;p20"/>
          <p:cNvSpPr txBox="1"/>
          <p:nvPr/>
        </p:nvSpPr>
        <p:spPr>
          <a:xfrm>
            <a:off x="4892040" y="2560320"/>
            <a:ext cx="3474720" cy="7772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DCE6F0"/>
              </a:buClr>
              <a:buSzPts val="1300"/>
              <a:buFont typeface="Calibri"/>
              <a:buChar char="•"/>
            </a:pPr>
            <a:r>
              <a:rPr b="0" i="0" lang="en-GB" sz="1300" u="none" cap="none" strike="noStrike">
                <a:solidFill>
                  <a:srgbClr val="DCE6F0"/>
                </a:solidFill>
                <a:latin typeface="Calibri"/>
                <a:ea typeface="Calibri"/>
                <a:cs typeface="Calibri"/>
                <a:sym typeface="Calibri"/>
              </a:rPr>
              <a:t>checks whether turns actually cohere</a:t>
            </a:r>
            <a:endParaRPr b="0" i="0" sz="13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DCE6F0"/>
              </a:buClr>
              <a:buSzPts val="1300"/>
              <a:buFont typeface="Calibri"/>
              <a:buChar char="•"/>
            </a:pPr>
            <a:r>
              <a:rPr b="0" i="0" lang="en-GB" sz="1300" u="none" cap="none" strike="noStrike">
                <a:solidFill>
                  <a:srgbClr val="DCE6F0"/>
                </a:solidFill>
                <a:latin typeface="Calibri"/>
                <a:ea typeface="Calibri"/>
                <a:cs typeface="Calibri"/>
                <a:sym typeface="Calibri"/>
              </a:rPr>
              <a:t>blind to children without words</a:t>
            </a:r>
            <a:endParaRPr b="0" i="0" sz="1300" u="none" cap="none" strike="noStrike">
              <a:solidFill>
                <a:schemeClr val="dk1"/>
              </a:solidFill>
              <a:latin typeface="Calibri"/>
              <a:ea typeface="Calibri"/>
              <a:cs typeface="Calibri"/>
              <a:sym typeface="Calibri"/>
            </a:endParaRPr>
          </a:p>
        </p:txBody>
      </p:sp>
      <p:cxnSp>
        <p:nvCxnSpPr>
          <p:cNvPr id="155" name="Google Shape;155;p20"/>
          <p:cNvCxnSpPr/>
          <p:nvPr/>
        </p:nvCxnSpPr>
        <p:spPr>
          <a:xfrm>
            <a:off x="640080" y="3611880"/>
            <a:ext cx="7863840" cy="0"/>
          </a:xfrm>
          <a:prstGeom prst="straightConnector1">
            <a:avLst/>
          </a:prstGeom>
          <a:noFill/>
          <a:ln cap="flat" cmpd="sng" w="12700">
            <a:solidFill>
              <a:srgbClr val="3D4A5C"/>
            </a:solidFill>
            <a:prstDash val="solid"/>
            <a:round/>
            <a:headEnd len="sm" w="sm" type="none"/>
            <a:tailEnd len="sm" w="sm" type="none"/>
          </a:ln>
        </p:spPr>
      </p:cxnSp>
      <p:sp>
        <p:nvSpPr>
          <p:cNvPr id="156" name="Google Shape;156;p20"/>
          <p:cNvSpPr txBox="1"/>
          <p:nvPr/>
        </p:nvSpPr>
        <p:spPr>
          <a:xfrm>
            <a:off x="640080" y="3703320"/>
            <a:ext cx="7863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BCC5"/>
              </a:buClr>
              <a:buSzPts val="1200"/>
              <a:buFont typeface="Calibri"/>
              <a:buNone/>
            </a:pPr>
            <a:r>
              <a:rPr b="0" i="0" lang="en-GB" sz="1200" u="none" cap="none" strike="noStrike">
                <a:solidFill>
                  <a:srgbClr val="B3BCC5"/>
                </a:solidFill>
                <a:latin typeface="Calibri"/>
                <a:ea typeface="Calibri"/>
                <a:cs typeface="Calibri"/>
                <a:sym typeface="Calibri"/>
              </a:rPr>
              <a:t>Back to the question we started with:</a:t>
            </a:r>
            <a:endParaRPr b="0" i="0" sz="1200" u="none" cap="none" strike="noStrike">
              <a:solidFill>
                <a:schemeClr val="dk1"/>
              </a:solidFill>
              <a:latin typeface="Calibri"/>
              <a:ea typeface="Calibri"/>
              <a:cs typeface="Calibri"/>
              <a:sym typeface="Calibri"/>
            </a:endParaRPr>
          </a:p>
        </p:txBody>
      </p:sp>
      <p:sp>
        <p:nvSpPr>
          <p:cNvPr id="157" name="Google Shape;157;p20"/>
          <p:cNvSpPr txBox="1"/>
          <p:nvPr/>
        </p:nvSpPr>
        <p:spPr>
          <a:xfrm>
            <a:off x="640080" y="397764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CFC3"/>
              </a:buClr>
              <a:buSzPts val="2000"/>
              <a:buFont typeface="Cambria"/>
              <a:buNone/>
            </a:pPr>
            <a:r>
              <a:rPr b="1" i="0" lang="en-GB" sz="2000" u="none" cap="none" strike="noStrike">
                <a:solidFill>
                  <a:srgbClr val="F3CFC3"/>
                </a:solidFill>
                <a:latin typeface="Cambria"/>
                <a:ea typeface="Cambria"/>
                <a:cs typeface="Cambria"/>
                <a:sym typeface="Cambria"/>
              </a:rPr>
              <a:t>how does a child’s place in multiparty talk change as they grow?</a:t>
            </a:r>
            <a:endParaRPr b="0" i="0" sz="2000" u="none" cap="none" strike="noStrike">
              <a:solidFill>
                <a:schemeClr val="dk1"/>
              </a:solidFill>
              <a:latin typeface="Calibri"/>
              <a:ea typeface="Calibri"/>
              <a:cs typeface="Calibri"/>
              <a:sym typeface="Calibri"/>
            </a:endParaRPr>
          </a:p>
        </p:txBody>
      </p:sp>
      <p:pic>
        <p:nvPicPr>
          <p:cNvPr descr="/home/claude/deck/cl.png" id="158" name="Google Shape;158;p20"/>
          <p:cNvPicPr preferRelativeResize="0"/>
          <p:nvPr/>
        </p:nvPicPr>
        <p:blipFill rotWithShape="1">
          <a:blip r:embed="rId3">
            <a:alphaModFix/>
          </a:blip>
          <a:srcRect b="0" l="0" r="0" t="0"/>
          <a:stretch/>
        </p:blipFill>
        <p:spPr>
          <a:xfrm>
            <a:off x="7818120" y="457200"/>
            <a:ext cx="685800" cy="5669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A3B"/>
        </a:solidFill>
      </p:bgPr>
    </p:bg>
    <p:spTree>
      <p:nvGrpSpPr>
        <p:cNvPr id="163" name="Shape 163"/>
        <p:cNvGrpSpPr/>
        <p:nvPr/>
      </p:nvGrpSpPr>
      <p:grpSpPr>
        <a:xfrm>
          <a:off x="0" y="0"/>
          <a:ext cx="0" cy="0"/>
          <a:chOff x="0" y="0"/>
          <a:chExt cx="0" cy="0"/>
        </a:xfrm>
      </p:grpSpPr>
      <p:sp>
        <p:nvSpPr>
          <p:cNvPr id="164" name="Google Shape;164;p21"/>
          <p:cNvSpPr txBox="1"/>
          <p:nvPr/>
        </p:nvSpPr>
        <p:spPr>
          <a:xfrm>
            <a:off x="2818800" y="2094600"/>
            <a:ext cx="35064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5000">
                <a:solidFill>
                  <a:schemeClr val="lt1"/>
                </a:solidFill>
                <a:latin typeface="Cambria"/>
                <a:ea typeface="Cambria"/>
                <a:cs typeface="Cambria"/>
                <a:sym typeface="Cambria"/>
              </a:rPr>
              <a:t>Thank you!</a:t>
            </a:r>
            <a:endParaRPr b="1" sz="5000">
              <a:solidFill>
                <a:schemeClr val="lt1"/>
              </a:solidFill>
              <a:latin typeface="Cambria"/>
              <a:ea typeface="Cambria"/>
              <a:cs typeface="Cambria"/>
              <a:sym typeface="Cambria"/>
            </a:endParaRPr>
          </a:p>
        </p:txBody>
      </p:sp>
      <p:pic>
        <p:nvPicPr>
          <p:cNvPr descr="/home/claude/deck/icis.png" id="165" name="Google Shape;165;p21"/>
          <p:cNvPicPr preferRelativeResize="0"/>
          <p:nvPr/>
        </p:nvPicPr>
        <p:blipFill rotWithShape="1">
          <a:blip r:embed="rId3">
            <a:alphaModFix/>
          </a:blip>
          <a:srcRect b="0" l="0" r="0" t="0"/>
          <a:stretch/>
        </p:blipFill>
        <p:spPr>
          <a:xfrm>
            <a:off x="7223760" y="365760"/>
            <a:ext cx="1463040" cy="822960"/>
          </a:xfrm>
          <a:prstGeom prst="rect">
            <a:avLst/>
          </a:prstGeom>
          <a:noFill/>
          <a:ln>
            <a:noFill/>
          </a:ln>
        </p:spPr>
      </p:pic>
      <p:pic>
        <p:nvPicPr>
          <p:cNvPr descr="/home/claude/deck/cl.png" id="166" name="Google Shape;166;p21"/>
          <p:cNvPicPr preferRelativeResize="0"/>
          <p:nvPr/>
        </p:nvPicPr>
        <p:blipFill rotWithShape="1">
          <a:blip r:embed="rId4">
            <a:alphaModFix/>
          </a:blip>
          <a:srcRect b="0" l="0" r="0" t="0"/>
          <a:stretch/>
        </p:blipFill>
        <p:spPr>
          <a:xfrm>
            <a:off x="457200" y="320040"/>
            <a:ext cx="868682" cy="713232"/>
          </a:xfrm>
          <a:prstGeom prst="rect">
            <a:avLst/>
          </a:prstGeom>
          <a:noFill/>
          <a:ln>
            <a:noFill/>
          </a:ln>
        </p:spPr>
      </p:pic>
      <p:sp>
        <p:nvSpPr>
          <p:cNvPr id="167" name="Google Shape;167;p21"/>
          <p:cNvSpPr txBox="1"/>
          <p:nvPr/>
        </p:nvSpPr>
        <p:spPr>
          <a:xfrm>
            <a:off x="3840450" y="3048900"/>
            <a:ext cx="1463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accent5"/>
                </a:solidFill>
                <a:latin typeface="Cambria"/>
                <a:ea typeface="Cambria"/>
                <a:cs typeface="Cambria"/>
                <a:sym typeface="Cambria"/>
              </a:rPr>
              <a:t>Questions?</a:t>
            </a:r>
            <a:endParaRPr sz="2000">
              <a:solidFill>
                <a:schemeClr val="accent5"/>
              </a:solidFill>
              <a:latin typeface="Cambria"/>
              <a:ea typeface="Cambria"/>
              <a:cs typeface="Cambria"/>
              <a:sym typeface="Cambria"/>
            </a:endParaRPr>
          </a:p>
        </p:txBody>
      </p:sp>
      <p:pic>
        <p:nvPicPr>
          <p:cNvPr descr="/home/claude/deck/subin.png" id="168" name="Google Shape;168;p21"/>
          <p:cNvPicPr preferRelativeResize="0"/>
          <p:nvPr/>
        </p:nvPicPr>
        <p:blipFill rotWithShape="1">
          <a:blip r:embed="rId5">
            <a:alphaModFix/>
          </a:blip>
          <a:srcRect b="0" l="0" r="0" t="0"/>
          <a:stretch/>
        </p:blipFill>
        <p:spPr>
          <a:xfrm>
            <a:off x="6995160" y="3840480"/>
            <a:ext cx="777300" cy="777300"/>
          </a:xfrm>
          <a:prstGeom prst="ellipse">
            <a:avLst/>
          </a:prstGeom>
          <a:noFill/>
          <a:ln>
            <a:noFill/>
          </a:ln>
        </p:spPr>
      </p:pic>
      <p:sp>
        <p:nvSpPr>
          <p:cNvPr id="169" name="Google Shape;169;p21"/>
          <p:cNvSpPr txBox="1"/>
          <p:nvPr/>
        </p:nvSpPr>
        <p:spPr>
          <a:xfrm>
            <a:off x="6812280" y="4645152"/>
            <a:ext cx="11430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Subin Kim</a:t>
            </a:r>
            <a:endParaRPr b="0" i="0" sz="850" u="none" cap="none" strike="noStrike">
              <a:solidFill>
                <a:schemeClr val="dk1"/>
              </a:solidFill>
              <a:latin typeface="Calibri"/>
              <a:ea typeface="Calibri"/>
              <a:cs typeface="Calibri"/>
              <a:sym typeface="Calibri"/>
            </a:endParaRPr>
          </a:p>
        </p:txBody>
      </p:sp>
      <p:pic>
        <p:nvPicPr>
          <p:cNvPr descr="/home/claude/deck/middy.png" id="170" name="Google Shape;170;p21"/>
          <p:cNvPicPr preferRelativeResize="0"/>
          <p:nvPr/>
        </p:nvPicPr>
        <p:blipFill rotWithShape="1">
          <a:blip r:embed="rId6">
            <a:alphaModFix/>
          </a:blip>
          <a:srcRect b="0" l="0" r="0" t="0"/>
          <a:stretch/>
        </p:blipFill>
        <p:spPr>
          <a:xfrm>
            <a:off x="8001000" y="3840480"/>
            <a:ext cx="777300" cy="777300"/>
          </a:xfrm>
          <a:prstGeom prst="ellipse">
            <a:avLst/>
          </a:prstGeom>
          <a:noFill/>
          <a:ln>
            <a:noFill/>
          </a:ln>
        </p:spPr>
      </p:pic>
      <p:sp>
        <p:nvSpPr>
          <p:cNvPr id="171" name="Google Shape;171;p21"/>
          <p:cNvSpPr txBox="1"/>
          <p:nvPr/>
        </p:nvSpPr>
        <p:spPr>
          <a:xfrm>
            <a:off x="7818120" y="4645152"/>
            <a:ext cx="11430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lang="en-GB" sz="850">
                <a:solidFill>
                  <a:srgbClr val="FFFFFF"/>
                </a:solidFill>
                <a:latin typeface="Calibri"/>
                <a:ea typeface="Calibri"/>
                <a:cs typeface="Calibri"/>
                <a:sym typeface="Calibri"/>
              </a:rPr>
              <a:t>Dr. </a:t>
            </a:r>
            <a:r>
              <a:rPr b="0" i="0" lang="en-GB" sz="850" u="none" cap="none" strike="noStrike">
                <a:solidFill>
                  <a:srgbClr val="FFFFFF"/>
                </a:solidFill>
                <a:latin typeface="Calibri"/>
                <a:ea typeface="Calibri"/>
                <a:cs typeface="Calibri"/>
                <a:sym typeface="Calibri"/>
              </a:rPr>
              <a:t> Casillas</a:t>
            </a:r>
            <a:endParaRPr b="0" i="0" sz="850" u="none" cap="none" strike="noStrike">
              <a:solidFill>
                <a:schemeClr val="dk1"/>
              </a:solidFill>
              <a:latin typeface="Calibri"/>
              <a:ea typeface="Calibri"/>
              <a:cs typeface="Calibri"/>
              <a:sym typeface="Calibri"/>
            </a:endParaRPr>
          </a:p>
        </p:txBody>
      </p:sp>
      <p:pic>
        <p:nvPicPr>
          <p:cNvPr id="172" name="Google Shape;172;p21"/>
          <p:cNvPicPr preferRelativeResize="0"/>
          <p:nvPr/>
        </p:nvPicPr>
        <p:blipFill rotWithShape="1">
          <a:blip r:embed="rId7">
            <a:alphaModFix/>
          </a:blip>
          <a:srcRect b="0" l="0" r="0" t="0"/>
          <a:stretch/>
        </p:blipFill>
        <p:spPr>
          <a:xfrm>
            <a:off x="178938" y="4088075"/>
            <a:ext cx="3452225" cy="812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